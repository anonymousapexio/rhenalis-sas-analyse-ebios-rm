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6432C67-1477-82AD-4670-EAC017F1049F}">
          <p14:sldIdLst>
            <p14:sldId id="256"/>
          </p14:sldIdLst>
        </p14:section>
        <p14:section name="Contexte" id="{8D4C9B44-D1EB-20B5-687C-E893840546FE}">
          <p14:sldIdLst>
            <p14:sldId id="257"/>
            <p14:sldId id="258"/>
          </p14:sldIdLst>
        </p14:section>
        <p14:section name="Menace" id="{458ACE14-24E9-D432-DD4E-3BF0B170B63D}">
          <p14:sldIdLst>
            <p14:sldId id="259"/>
            <p14:sldId id="260"/>
            <p14:sldId id="261"/>
          </p14:sldIdLst>
        </p14:section>
        <p14:section name="Traitement" id="{BAFEA8B9-4789-E1A1-D439-708D9ACD2004}">
          <p14:sldIdLst>
            <p14:sldId id="262"/>
            <p14:sldId id="263"/>
          </p14:sldIdLst>
        </p14:section>
        <p14:section name="Décision" id="{40720234-7593-2573-B617-9CA0F703164F}">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2867C5-824C-40C1-BEAD-196224C2F15D}" v="1" dt="2026-10-23T10:34:10.8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86" y="41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leiton KITANI" userId="3987c4aade6722c7" providerId="LiveId" clId="{CC03599D-8948-4A9F-A7BF-EBBD95D18152}"/>
    <pc:docChg chg="modSld modMainMaster">
      <pc:chgData name="Kleiton KITANI" userId="3987c4aade6722c7" providerId="LiveId" clId="{CC03599D-8948-4A9F-A7BF-EBBD95D18152}" dt="2026-10-23T10:34:10.883" v="42"/>
      <pc:docMkLst>
        <pc:docMk/>
      </pc:docMkLst>
      <pc:sldChg chg="modSp mod">
        <pc:chgData name="Kleiton KITANI" userId="3987c4aade6722c7" providerId="LiveId" clId="{CC03599D-8948-4A9F-A7BF-EBBD95D18152}" dt="2026-10-23T10:34:10.883" v="42"/>
        <pc:sldMkLst>
          <pc:docMk/>
          <pc:sldMk cId="0" sldId="256"/>
        </pc:sldMkLst>
        <pc:spChg chg="mod">
          <ac:chgData name="Kleiton KITANI" userId="3987c4aade6722c7" providerId="LiveId" clId="{CC03599D-8948-4A9F-A7BF-EBBD95D18152}" dt="2026-10-23T10:34:10.883" v="42"/>
          <ac:spMkLst>
            <pc:docMk/>
            <pc:sldMk cId="0" sldId="256"/>
            <ac:spMk id="3" creationId="{00000000-0000-0000-0000-000000000000}"/>
          </ac:spMkLst>
        </pc:spChg>
      </pc:sldChg>
      <pc:sldChg chg="modNotes">
        <pc:chgData name="Kleiton KITANI" userId="3987c4aade6722c7" providerId="LiveId" clId="{CC03599D-8948-4A9F-A7BF-EBBD95D18152}" dt="2026-10-23T10:34:10.883" v="42"/>
        <pc:sldMkLst>
          <pc:docMk/>
          <pc:sldMk cId="0" sldId="257"/>
        </pc:sldMkLst>
      </pc:sldChg>
      <pc:sldChg chg="modNotes">
        <pc:chgData name="Kleiton KITANI" userId="3987c4aade6722c7" providerId="LiveId" clId="{CC03599D-8948-4A9F-A7BF-EBBD95D18152}" dt="2026-10-23T10:34:10.883" v="42"/>
        <pc:sldMkLst>
          <pc:docMk/>
          <pc:sldMk cId="0" sldId="259"/>
        </pc:sldMkLst>
      </pc:sldChg>
      <pc:sldChg chg="modNotes">
        <pc:chgData name="Kleiton KITANI" userId="3987c4aade6722c7" providerId="LiveId" clId="{CC03599D-8948-4A9F-A7BF-EBBD95D18152}" dt="2026-10-23T10:34:10.883" v="42"/>
        <pc:sldMkLst>
          <pc:docMk/>
          <pc:sldMk cId="0" sldId="260"/>
        </pc:sldMkLst>
      </pc:sldChg>
      <pc:sldChg chg="modNotes">
        <pc:chgData name="Kleiton KITANI" userId="3987c4aade6722c7" providerId="LiveId" clId="{CC03599D-8948-4A9F-A7BF-EBBD95D18152}" dt="2026-10-23T10:34:10.883" v="42"/>
        <pc:sldMkLst>
          <pc:docMk/>
          <pc:sldMk cId="0" sldId="261"/>
        </pc:sldMkLst>
      </pc:sldChg>
      <pc:sldChg chg="modSp">
        <pc:chgData name="Kleiton KITANI" userId="3987c4aade6722c7" providerId="LiveId" clId="{CC03599D-8948-4A9F-A7BF-EBBD95D18152}" dt="2026-10-23T10:34:10.883" v="42"/>
        <pc:sldMkLst>
          <pc:docMk/>
          <pc:sldMk cId="0" sldId="264"/>
        </pc:sldMkLst>
        <pc:spChg chg="mod">
          <ac:chgData name="Kleiton KITANI" userId="3987c4aade6722c7" providerId="LiveId" clId="{CC03599D-8948-4A9F-A7BF-EBBD95D18152}" dt="2026-10-23T10:34:10.883" v="42"/>
          <ac:spMkLst>
            <pc:docMk/>
            <pc:sldMk cId="0" sldId="264"/>
            <ac:spMk id="3" creationId="{00000000-0000-0000-0000-000000000000}"/>
          </ac:spMkLst>
        </pc:spChg>
      </pc:sldChg>
      <pc:sldMasterChg chg="modSldLayout">
        <pc:chgData name="Kleiton KITANI" userId="3987c4aade6722c7" providerId="LiveId" clId="{CC03599D-8948-4A9F-A7BF-EBBD95D18152}" dt="2026-10-23T10:34:10.883" v="42"/>
        <pc:sldMasterMkLst>
          <pc:docMk/>
          <pc:sldMasterMk cId="0" sldId="2147483648"/>
        </pc:sldMasterMkLst>
        <pc:sldLayoutChg chg="modSp">
          <pc:chgData name="Kleiton KITANI" userId="3987c4aade6722c7" providerId="LiveId" clId="{CC03599D-8948-4A9F-A7BF-EBBD95D18152}" dt="2026-10-23T10:34:10.883" v="42"/>
          <pc:sldLayoutMkLst>
            <pc:docMk/>
            <pc:sldMasterMk cId="0" sldId="2147483648"/>
            <pc:sldLayoutMk cId="0" sldId="2147483651"/>
          </pc:sldLayoutMkLst>
          <pc:spChg chg="mod">
            <ac:chgData name="Kleiton KITANI" userId="3987c4aade6722c7" providerId="LiveId" clId="{CC03599D-8948-4A9F-A7BF-EBBD95D18152}" dt="2026-10-23T10:34:10.883" v="42"/>
            <ac:spMkLst>
              <pc:docMk/>
              <pc:sldMasterMk cId="0" sldId="2147483648"/>
              <pc:sldLayoutMk cId="0" sldId="2147483651"/>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7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groupe. Nous avons été mandatés comme équipe de conseil SSI pour analyser les risques de la plateforme cloud qui porte l’ERP et le CRM de Rhénalis. En 10 minutes : ce qui doit être protégé, qui menace et par où, les risques prioritaires, puis le plan d’action et les décisions que nous attendons de vous.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cas fourni ne fixe que l’objet d’étude. Tout le </a:t>
            </a:r>
            <a:r>
              <a:rPr lang="en-US"/>
              <a:t>reste - </a:t>
            </a:r>
            <a:r>
              <a:rPr lang="en-US" dirty="0"/>
              <a:t>taille, secteur, faiblesses de </a:t>
            </a:r>
            <a:r>
              <a:rPr lang="en-US"/>
              <a:t>sécurité - </a:t>
            </a:r>
            <a:r>
              <a:rPr lang="en-US" dirty="0"/>
              <a:t>est une hypothèse du groupe, tracée dans un journal de 23 entrées. Nous distinguons systématiquement faits, déclarations, hypothèses et informations manquantes. Point clé : l’infogérance, l’hébergement et la maintenance de l’ERP sont confiés à des tiers, ce qui conditionne toute l’analyse.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valeurs métier, sept événements redoutés, chacun relié à un besoin de sécurité : disponibilité, intégrité, confidentialité ou traçabilité. Nous avons évité de tout coter au maximum : un seul événement est G4, la perte définitive des données comptables, parce qu’elle empêcherait de reconstituer comptes clients, encours et comptabilité. Cette cotation repose sur une information manquante, H07 : aucun compte rendu de test de restauration n’est disponible. Une absence de preuve n’est pas une preuve d’absence, mais elle justifie la prudence.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Huit couples source de risque / objectif ont été cotés en motivation et ressources ; trois sont retenus : le crime organisé (rançongiciel), la fraude financière et un commercial sur le départ. Nous avons exclu l’organisation étatique par décision explicite : la grille donnait une pertinence moyenne à cause des ressources, mais Rhénalis n’a rien de stratégique pour un État. À gauche, la cartographie des sources de risque : les trois couples retenus sont en points pleins. À droite, les cinq chemins d’attaque : deux passent par un </a:t>
            </a:r>
            <a:r>
              <a:rPr lang="en-US"/>
              <a:t>tiers - </a:t>
            </a:r>
            <a:r>
              <a:rPr lang="en-US" dirty="0"/>
              <a:t>l’infogérant, avec la console de l’hébergeur, et l’éditeur de </a:t>
            </a:r>
            <a:r>
              <a:rPr lang="en-US"/>
              <a:t>l’ERP - </a:t>
            </a:r>
            <a:r>
              <a:rPr lang="en-US" dirty="0"/>
              <a:t>et trois sont directs. Dans la fraude au RIB, les grands comptes sont les victimes, pas un intermédiaire : le chemin passe par la messagerie d’un salarié.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Neuf parties prenantes cotées sur dépendance, pénétration, maturité et confiance. L’infogérant est seul en zone danger, avec un indice de 4 : il est indispensable et a les droits d’administration sur l’annuaire, les serveurs et les sauvegardes. Nous faisons </a:t>
            </a:r>
            <a:r>
              <a:rPr lang="en-US"/>
              <a:t>l’hypothèse - </a:t>
            </a:r>
            <a:r>
              <a:rPr lang="en-US" dirty="0"/>
              <a:t>à </a:t>
            </a:r>
            <a:r>
              <a:rPr lang="en-US"/>
              <a:t>vérifier - </a:t>
            </a:r>
            <a:r>
              <a:rPr lang="en-US" dirty="0"/>
              <a:t>que sa sécurité est réactive et que son contrat n’impose rien. Un avenant de sécurité le ferait passer à 1,78, hors zone danger. On ne peut pas imposer une configuration à un tiers : on passe par le contrat. Les deux parties prenantes en zone contrôle, l’hébergeur et l’éditeur, portent chacune un scénario.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scénario stratégique est décliné en quatre </a:t>
            </a:r>
            <a:r>
              <a:rPr lang="en-US"/>
              <a:t>phases - </a:t>
            </a:r>
            <a:r>
              <a:rPr lang="en-US" dirty="0"/>
              <a:t>connaître, rentrer, trouver, </a:t>
            </a:r>
            <a:r>
              <a:rPr lang="en-US"/>
              <a:t>exploiter - </a:t>
            </a:r>
            <a:r>
              <a:rPr lang="en-US" dirty="0"/>
              <a:t>avec le bien support visé à chaque étape ; les cinq graphes sont dans le dossier. Nous avons coté la vraisemblance en méthode expresse, en supposant que l’attaquant passe à l’acte. SO1 est coté V3 sur la base de nos hypothèses : si, comme nous le supposons, les accès de l’infogérant n’ont pas de double authentification et reposent sur un compte partagé non supervisé, l’attaque a de bonnes chances d’aboutir. Ce sont les premiers points à vérifier dans une mission réelle. SO1 et SO2 passent tous deux par un tiers, mais pas le même : l’infogérant, de maturité 2, a un accès permanent sans double authentification avec un compte partagé ; l’éditeur, de maturité 3, n’accède au serveur qu’à la demande. D’où V3 pour SO1 et V2 pour SO2.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cinq risques sont traités en réduction. Attention à l’échelle de la feuille Métriques : « significatif » est un niveau plus bas que « modéré ». La sauvegarde immuable testée fait baisser la gravité de R1 et R3 de G4 à G3, car la perte définitive n’est plus possible. R4, la fraude au RIB, reste modéré : le courrier aux grands comptes et la double validation des RIB réduisent la vraisemblance sans la supprimer, puisque c’est le client qui paie. R5 reste modéré : un commercial garde un accès légitime au CRM. Ces risques résiduels doivent être acceptés explicitement par la direction.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compte 19 actions réparties en gouvernance, protection, défense et résilience, dont neuf prioritaires. Nous avons priorisé selon le rapport effet / effort : les deux mesures sur les RIB et la restriction des exports ne coûtent presque rien ; la double authentification et la sauvegarde immuable couvrent les deux risques élevés pour une dizaine de k€ par an, et la sensibilisation et l’EDR ciblent spécifiquement le scénario d’hameçonnage (R3). Si le budget était divisé par deux, nous garderions toutes les actions P1 et reporterions la supervision externalisée (20 k€ par an) et la cyber-assurance. Le budget total est un ordre de grandeur : environ 33 k€ d’investissement et 51 à 56 k€ par 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terminons par quatre décisions. Le suivi se fait par huit indicateurs, dont le taux de comptes protégés par MFA et le nombre de tests de restauration réussis, revus en comité trimestriel. Limite principale de l’analyse : les faiblesses de sécurité sont des hypothèses non auditées ; la première étape d’une mission réelle serait de les vérifier, en particulier les tests de restauration. Merci, nous sommes prêts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1887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2743200"/>
            <a:ext cx="8046720" cy="146304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2600" b="1" dirty="0">
                <a:solidFill>
                  <a:schemeClr val="tx2"/>
                </a:solidFill>
              </a:defRPr>
            </a:lvl1pPr>
          </a:lstStyle>
          <a:p>
            <a:pPr marL="0" indent="0" algn="l">
              <a:buNone/>
            </a:pPr>
            <a:endParaRPr lang="en-US" sz="26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5"/>
                </a:solidFill>
              </a:rPr>
              <a:t>TP EBIOS RM - Rhénalis SAS (cas fictif)</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188720"/>
          </a:xfrm>
          <a:prstGeom prst="rect">
            <a:avLst/>
          </a:prstGeom>
          <a:noFill/>
          <a:ln/>
        </p:spPr>
        <p:txBody>
          <a:bodyPr wrap="square" rtlCol="0" anchor="b"/>
          <a:lstStyle/>
          <a:p>
            <a:pPr marL="0" indent="0" algn="l">
              <a:buNone/>
            </a:pPr>
            <a:r>
              <a:rPr lang="en-US" sz="3600" b="1" dirty="0">
                <a:solidFill>
                  <a:schemeClr val="bg1"/>
                </a:solidFill>
              </a:rPr>
              <a:t>Protéger la plateforme ERP/CRM de Rhénalis</a:t>
            </a:r>
            <a:endParaRPr lang="en-US" sz="3600" dirty="0"/>
          </a:p>
        </p:txBody>
      </p:sp>
      <p:sp>
        <p:nvSpPr>
          <p:cNvPr id="3" name="Text 0"/>
          <p:cNvSpPr>
            <a:spLocks noGrp="1"/>
          </p:cNvSpPr>
          <p:nvPr>
            <p:ph type="body" idx="101" hasCustomPrompt="1"/>
          </p:nvPr>
        </p:nvSpPr>
        <p:spPr>
          <a:xfrm>
            <a:off x="548640" y="2743200"/>
            <a:ext cx="8046720" cy="1463040"/>
          </a:xfrm>
          <a:prstGeom prst="rect">
            <a:avLst/>
          </a:prstGeom>
          <a:noFill/>
          <a:ln/>
        </p:spPr>
        <p:txBody>
          <a:bodyPr wrap="square" rtlCol="0" anchor="t"/>
          <a:lstStyle/>
          <a:p>
            <a:pPr marL="0" indent="0">
              <a:buNone/>
            </a:pPr>
            <a:r>
              <a:rPr lang="en-US" sz="1600" dirty="0">
                <a:solidFill>
                  <a:schemeClr val="bg2"/>
                </a:solidFill>
              </a:rPr>
              <a:t>Analyse de risques EBIOS Risk Manager - restitution à la direction</a:t>
            </a:r>
            <a:endParaRPr lang="en-US" sz="1600" dirty="0"/>
          </a:p>
          <a:p>
            <a:pPr marL="0" indent="0">
              <a:buNone/>
            </a:pPr>
            <a:r>
              <a:rPr lang="en-US" sz="1300" dirty="0"/>
              <a:t>Kleiton KITANI, Ryan AMORY</a:t>
            </a:r>
            <a:r>
              <a:rPr lang="en-US" sz="1300" dirty="0">
                <a:solidFill>
                  <a:schemeClr val="bg2"/>
                </a:solidFill>
              </a:rPr>
              <a:t> · 21 octobre 2026 · cas fictif</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600" b="1" dirty="0">
                <a:solidFill>
                  <a:schemeClr val="tx2"/>
                </a:solidFill>
              </a:rPr>
              <a:t>Une activité qui repose entièrement sur des tiers</a:t>
            </a:r>
            <a:endParaRPr lang="en-US" sz="2600" dirty="0"/>
          </a:p>
        </p:txBody>
      </p:sp>
      <p:sp>
        <p:nvSpPr>
          <p:cNvPr id="3" name="Text 1"/>
          <p:cNvSpPr txBox="1"/>
          <p:nvPr/>
        </p:nvSpPr>
        <p:spPr>
          <a:xfrm>
            <a:off x="457200" y="1143000"/>
            <a:ext cx="4206240" cy="3383280"/>
          </a:xfrm>
          <a:prstGeom prst="rect">
            <a:avLst/>
          </a:prstGeom>
          <a:noFill/>
          <a:ln/>
        </p:spPr>
        <p:txBody>
          <a:bodyPr wrap="square" lIns="0" tIns="0" rIns="0" bIns="0" rtlCol="0" anchor="t"/>
          <a:lstStyle/>
          <a:p>
            <a:pPr marL="0" indent="0">
              <a:buNone/>
            </a:pPr>
            <a:r>
              <a:rPr lang="en-US" sz="1400" b="1" dirty="0">
                <a:solidFill>
                  <a:schemeClr val="tx1"/>
                </a:solidFill>
              </a:rPr>
              <a:t>Rhénalis SAS</a:t>
            </a:r>
            <a:endParaRPr lang="en-US" sz="1400" dirty="0"/>
          </a:p>
          <a:p>
            <a:pPr marL="0" indent="0">
              <a:spcAft>
                <a:spcPts val="800"/>
              </a:spcAft>
              <a:buNone/>
            </a:pPr>
            <a:r>
              <a:rPr lang="en-US" sz="1400" dirty="0">
                <a:solidFill>
                  <a:schemeClr val="tx1"/>
                </a:solidFill>
              </a:rPr>
              <a:t>PME de distribution B2B de matériel électrique, ~90 salariés, ~22 M€ de CA (hypothèses).</a:t>
            </a:r>
            <a:endParaRPr lang="en-US" sz="1400" dirty="0"/>
          </a:p>
          <a:p>
            <a:pPr marL="0" indent="0">
              <a:buNone/>
            </a:pPr>
            <a:r>
              <a:rPr lang="en-US" sz="1400" b="1" dirty="0">
                <a:solidFill>
                  <a:schemeClr val="tx1"/>
                </a:solidFill>
              </a:rPr>
              <a:t>Périmètre étudié</a:t>
            </a:r>
            <a:endParaRPr lang="en-US" sz="1400" dirty="0"/>
          </a:p>
          <a:p>
            <a:pPr marL="0" indent="0">
              <a:spcAft>
                <a:spcPts val="800"/>
              </a:spcAft>
              <a:buNone/>
            </a:pPr>
            <a:r>
              <a:rPr lang="en-US" sz="1400" dirty="0">
                <a:solidFill>
                  <a:schemeClr val="tx1"/>
                </a:solidFill>
              </a:rPr>
              <a:t>ERP et CRM hébergés en IaaS, base de données, annuaire, sauvegardes, messagerie, ~75 postes, accès distants.</a:t>
            </a:r>
            <a:endParaRPr lang="en-US" sz="1400" dirty="0"/>
          </a:p>
          <a:p>
            <a:pPr marL="0" indent="0">
              <a:buNone/>
            </a:pPr>
            <a:r>
              <a:rPr lang="en-US" sz="1400" b="1" dirty="0">
                <a:solidFill>
                  <a:schemeClr val="tx1"/>
                </a:solidFill>
              </a:rPr>
              <a:t>Hors périmètre</a:t>
            </a:r>
            <a:endParaRPr lang="en-US" sz="1400" dirty="0"/>
          </a:p>
          <a:p>
            <a:pPr marL="0" indent="0">
              <a:buNone/>
            </a:pPr>
            <a:r>
              <a:rPr lang="en-US" sz="1400" dirty="0">
                <a:solidFill>
                  <a:schemeClr val="tx1"/>
                </a:solidFill>
              </a:rPr>
              <a:t>Paie, site vitrine, équipements d’entrepôt.</a:t>
            </a:r>
            <a:endParaRPr lang="en-US" sz="1400" dirty="0"/>
          </a:p>
        </p:txBody>
      </p:sp>
      <p:sp>
        <p:nvSpPr>
          <p:cNvPr id="4" name="Shape 2"/>
          <p:cNvSpPr/>
          <p:nvPr/>
        </p:nvSpPr>
        <p:spPr>
          <a:xfrm>
            <a:off x="5029200" y="1188720"/>
            <a:ext cx="1691640" cy="1417320"/>
          </a:xfrm>
          <a:prstGeom prst="roundRect">
            <a:avLst>
              <a:gd name="adj" fmla="val 5161"/>
            </a:avLst>
          </a:prstGeom>
          <a:solidFill>
            <a:schemeClr val="bg2"/>
          </a:solidFill>
          <a:ln w="12700">
            <a:solidFill>
              <a:schemeClr val="bg2"/>
            </a:solidFill>
            <a:prstDash val="solid"/>
          </a:ln>
        </p:spPr>
        <p:txBody>
          <a:bodyPr/>
          <a:lstStyle/>
          <a:p>
            <a:endParaRPr lang="fr-FR"/>
          </a:p>
        </p:txBody>
      </p:sp>
      <p:sp>
        <p:nvSpPr>
          <p:cNvPr id="5" name="Text 3"/>
          <p:cNvSpPr txBox="1"/>
          <p:nvPr/>
        </p:nvSpPr>
        <p:spPr>
          <a:xfrm>
            <a:off x="5029200" y="1325880"/>
            <a:ext cx="1691640" cy="731520"/>
          </a:xfrm>
          <a:prstGeom prst="rect">
            <a:avLst/>
          </a:prstGeom>
          <a:noFill/>
          <a:ln/>
        </p:spPr>
        <p:txBody>
          <a:bodyPr wrap="square" lIns="0" tIns="0" rIns="0" bIns="0" rtlCol="0" anchor="ctr"/>
          <a:lstStyle/>
          <a:p>
            <a:pPr marL="0" indent="0" algn="ctr">
              <a:buNone/>
            </a:pPr>
            <a:r>
              <a:rPr lang="en-US" sz="4400" b="1" dirty="0">
                <a:solidFill>
                  <a:schemeClr val="tx2"/>
                </a:solidFill>
                <a:latin typeface="Cambria" pitchFamily="34" charset="0"/>
                <a:ea typeface="Cambria" pitchFamily="34" charset="-122"/>
                <a:cs typeface="Cambria" pitchFamily="34" charset="-120"/>
              </a:rPr>
              <a:t>5</a:t>
            </a:r>
            <a:endParaRPr lang="en-US" sz="4400" dirty="0"/>
          </a:p>
        </p:txBody>
      </p:sp>
      <p:sp>
        <p:nvSpPr>
          <p:cNvPr id="6" name="Text 4"/>
          <p:cNvSpPr txBox="1"/>
          <p:nvPr/>
        </p:nvSpPr>
        <p:spPr>
          <a:xfrm>
            <a:off x="5029200" y="2057400"/>
            <a:ext cx="1691640" cy="365760"/>
          </a:xfrm>
          <a:prstGeom prst="rect">
            <a:avLst/>
          </a:prstGeom>
          <a:noFill/>
          <a:ln/>
        </p:spPr>
        <p:txBody>
          <a:bodyPr wrap="square" lIns="0" tIns="0" rIns="0" bIns="0" rtlCol="0" anchor="ctr"/>
          <a:lstStyle/>
          <a:p>
            <a:pPr marL="0" indent="0" algn="ctr">
              <a:buNone/>
            </a:pPr>
            <a:r>
              <a:rPr lang="en-US" sz="1300" dirty="0">
                <a:solidFill>
                  <a:schemeClr val="tx1"/>
                </a:solidFill>
              </a:rPr>
              <a:t>valeurs métier</a:t>
            </a:r>
            <a:endParaRPr lang="en-US" sz="1300" dirty="0"/>
          </a:p>
        </p:txBody>
      </p:sp>
      <p:sp>
        <p:nvSpPr>
          <p:cNvPr id="7" name="Shape 5"/>
          <p:cNvSpPr/>
          <p:nvPr/>
        </p:nvSpPr>
        <p:spPr>
          <a:xfrm>
            <a:off x="6903720" y="1188720"/>
            <a:ext cx="1691640" cy="1417320"/>
          </a:xfrm>
          <a:prstGeom prst="roundRect">
            <a:avLst>
              <a:gd name="adj" fmla="val 5161"/>
            </a:avLst>
          </a:prstGeom>
          <a:solidFill>
            <a:schemeClr val="bg2"/>
          </a:solidFill>
          <a:ln w="12700">
            <a:solidFill>
              <a:schemeClr val="bg2"/>
            </a:solidFill>
            <a:prstDash val="solid"/>
          </a:ln>
        </p:spPr>
        <p:txBody>
          <a:bodyPr/>
          <a:lstStyle/>
          <a:p>
            <a:endParaRPr lang="fr-FR"/>
          </a:p>
        </p:txBody>
      </p:sp>
      <p:sp>
        <p:nvSpPr>
          <p:cNvPr id="8" name="Text 6"/>
          <p:cNvSpPr txBox="1"/>
          <p:nvPr/>
        </p:nvSpPr>
        <p:spPr>
          <a:xfrm>
            <a:off x="6903720" y="1325880"/>
            <a:ext cx="1691640" cy="731520"/>
          </a:xfrm>
          <a:prstGeom prst="rect">
            <a:avLst/>
          </a:prstGeom>
          <a:noFill/>
          <a:ln/>
        </p:spPr>
        <p:txBody>
          <a:bodyPr wrap="square" lIns="0" tIns="0" rIns="0" bIns="0" rtlCol="0" anchor="ctr"/>
          <a:lstStyle/>
          <a:p>
            <a:pPr marL="0" indent="0" algn="ctr">
              <a:buNone/>
            </a:pPr>
            <a:r>
              <a:rPr lang="en-US" sz="4400" b="1" dirty="0">
                <a:solidFill>
                  <a:schemeClr val="tx2"/>
                </a:solidFill>
                <a:latin typeface="Cambria" pitchFamily="34" charset="0"/>
                <a:ea typeface="Cambria" pitchFamily="34" charset="-122"/>
                <a:cs typeface="Cambria" pitchFamily="34" charset="-120"/>
              </a:rPr>
              <a:t>9</a:t>
            </a:r>
            <a:endParaRPr lang="en-US" sz="4400" dirty="0"/>
          </a:p>
        </p:txBody>
      </p:sp>
      <p:sp>
        <p:nvSpPr>
          <p:cNvPr id="9" name="Text 7"/>
          <p:cNvSpPr txBox="1"/>
          <p:nvPr/>
        </p:nvSpPr>
        <p:spPr>
          <a:xfrm>
            <a:off x="6903720" y="2057400"/>
            <a:ext cx="1691640" cy="365760"/>
          </a:xfrm>
          <a:prstGeom prst="rect">
            <a:avLst/>
          </a:prstGeom>
          <a:noFill/>
          <a:ln/>
        </p:spPr>
        <p:txBody>
          <a:bodyPr wrap="square" lIns="0" tIns="0" rIns="0" bIns="0" rtlCol="0" anchor="ctr"/>
          <a:lstStyle/>
          <a:p>
            <a:pPr marL="0" indent="0" algn="ctr">
              <a:buNone/>
            </a:pPr>
            <a:r>
              <a:rPr lang="en-US" sz="1300" dirty="0">
                <a:solidFill>
                  <a:schemeClr val="tx1"/>
                </a:solidFill>
              </a:rPr>
              <a:t>parties prenantes</a:t>
            </a:r>
            <a:endParaRPr lang="en-US" sz="1300" dirty="0"/>
          </a:p>
        </p:txBody>
      </p:sp>
      <p:sp>
        <p:nvSpPr>
          <p:cNvPr id="10" name="Shape 8"/>
          <p:cNvSpPr/>
          <p:nvPr/>
        </p:nvSpPr>
        <p:spPr>
          <a:xfrm>
            <a:off x="5029200" y="2834640"/>
            <a:ext cx="1691640" cy="1417320"/>
          </a:xfrm>
          <a:prstGeom prst="roundRect">
            <a:avLst>
              <a:gd name="adj" fmla="val 5161"/>
            </a:avLst>
          </a:prstGeom>
          <a:solidFill>
            <a:schemeClr val="bg2"/>
          </a:solidFill>
          <a:ln w="12700">
            <a:solidFill>
              <a:schemeClr val="bg2"/>
            </a:solidFill>
            <a:prstDash val="solid"/>
          </a:ln>
        </p:spPr>
        <p:txBody>
          <a:bodyPr/>
          <a:lstStyle/>
          <a:p>
            <a:endParaRPr lang="fr-FR"/>
          </a:p>
        </p:txBody>
      </p:sp>
      <p:sp>
        <p:nvSpPr>
          <p:cNvPr id="11" name="Text 9"/>
          <p:cNvSpPr txBox="1"/>
          <p:nvPr/>
        </p:nvSpPr>
        <p:spPr>
          <a:xfrm>
            <a:off x="5029200" y="2971800"/>
            <a:ext cx="1691640" cy="731520"/>
          </a:xfrm>
          <a:prstGeom prst="rect">
            <a:avLst/>
          </a:prstGeom>
          <a:noFill/>
          <a:ln/>
        </p:spPr>
        <p:txBody>
          <a:bodyPr wrap="square" lIns="0" tIns="0" rIns="0" bIns="0" rtlCol="0" anchor="ctr"/>
          <a:lstStyle/>
          <a:p>
            <a:pPr marL="0" indent="0" algn="ctr">
              <a:buNone/>
            </a:pPr>
            <a:r>
              <a:rPr lang="en-US" sz="4400" b="1" dirty="0">
                <a:solidFill>
                  <a:schemeClr val="tx2"/>
                </a:solidFill>
                <a:latin typeface="Cambria" pitchFamily="34" charset="0"/>
                <a:ea typeface="Cambria" pitchFamily="34" charset="-122"/>
                <a:cs typeface="Cambria" pitchFamily="34" charset="-120"/>
              </a:rPr>
              <a:t>5</a:t>
            </a:r>
            <a:endParaRPr lang="en-US" sz="4400" dirty="0"/>
          </a:p>
        </p:txBody>
      </p:sp>
      <p:sp>
        <p:nvSpPr>
          <p:cNvPr id="12" name="Text 10"/>
          <p:cNvSpPr txBox="1"/>
          <p:nvPr/>
        </p:nvSpPr>
        <p:spPr>
          <a:xfrm>
            <a:off x="5029200" y="3703320"/>
            <a:ext cx="1691640" cy="365760"/>
          </a:xfrm>
          <a:prstGeom prst="rect">
            <a:avLst/>
          </a:prstGeom>
          <a:noFill/>
          <a:ln/>
        </p:spPr>
        <p:txBody>
          <a:bodyPr wrap="square" lIns="0" tIns="0" rIns="0" bIns="0" rtlCol="0" anchor="ctr"/>
          <a:lstStyle/>
          <a:p>
            <a:pPr marL="0" indent="0" algn="ctr">
              <a:buNone/>
            </a:pPr>
            <a:r>
              <a:rPr lang="en-US" sz="1300" dirty="0">
                <a:solidFill>
                  <a:schemeClr val="tx1"/>
                </a:solidFill>
              </a:rPr>
              <a:t>risques retenus</a:t>
            </a:r>
            <a:endParaRPr lang="en-US" sz="1300" dirty="0"/>
          </a:p>
        </p:txBody>
      </p:sp>
      <p:sp>
        <p:nvSpPr>
          <p:cNvPr id="13" name="Shape 11"/>
          <p:cNvSpPr/>
          <p:nvPr/>
        </p:nvSpPr>
        <p:spPr>
          <a:xfrm>
            <a:off x="6903720" y="2834640"/>
            <a:ext cx="1691640" cy="1417320"/>
          </a:xfrm>
          <a:prstGeom prst="roundRect">
            <a:avLst>
              <a:gd name="adj" fmla="val 5161"/>
            </a:avLst>
          </a:prstGeom>
          <a:solidFill>
            <a:schemeClr val="bg2"/>
          </a:solidFill>
          <a:ln w="12700">
            <a:solidFill>
              <a:schemeClr val="bg2"/>
            </a:solidFill>
            <a:prstDash val="solid"/>
          </a:ln>
        </p:spPr>
        <p:txBody>
          <a:bodyPr/>
          <a:lstStyle/>
          <a:p>
            <a:endParaRPr lang="fr-FR"/>
          </a:p>
        </p:txBody>
      </p:sp>
      <p:sp>
        <p:nvSpPr>
          <p:cNvPr id="14" name="Text 12"/>
          <p:cNvSpPr txBox="1"/>
          <p:nvPr/>
        </p:nvSpPr>
        <p:spPr>
          <a:xfrm>
            <a:off x="6903720" y="2971800"/>
            <a:ext cx="1691640" cy="731520"/>
          </a:xfrm>
          <a:prstGeom prst="rect">
            <a:avLst/>
          </a:prstGeom>
          <a:noFill/>
          <a:ln/>
        </p:spPr>
        <p:txBody>
          <a:bodyPr wrap="square" lIns="0" tIns="0" rIns="0" bIns="0" rtlCol="0" anchor="ctr"/>
          <a:lstStyle/>
          <a:p>
            <a:pPr marL="0" indent="0" algn="ctr">
              <a:buNone/>
            </a:pPr>
            <a:r>
              <a:rPr lang="en-US" sz="4400" b="1" dirty="0">
                <a:solidFill>
                  <a:schemeClr val="tx2"/>
                </a:solidFill>
                <a:latin typeface="Cambria" pitchFamily="34" charset="0"/>
                <a:ea typeface="Cambria" pitchFamily="34" charset="-122"/>
                <a:cs typeface="Cambria" pitchFamily="34" charset="-120"/>
              </a:rPr>
              <a:t>23</a:t>
            </a:r>
            <a:endParaRPr lang="en-US" sz="4400" dirty="0"/>
          </a:p>
        </p:txBody>
      </p:sp>
      <p:sp>
        <p:nvSpPr>
          <p:cNvPr id="15" name="Text 13"/>
          <p:cNvSpPr txBox="1"/>
          <p:nvPr/>
        </p:nvSpPr>
        <p:spPr>
          <a:xfrm>
            <a:off x="6903720" y="3703320"/>
            <a:ext cx="1691640" cy="365760"/>
          </a:xfrm>
          <a:prstGeom prst="rect">
            <a:avLst/>
          </a:prstGeom>
          <a:noFill/>
          <a:ln/>
        </p:spPr>
        <p:txBody>
          <a:bodyPr wrap="square" lIns="0" tIns="0" rIns="0" bIns="0" rtlCol="0" anchor="ctr"/>
          <a:lstStyle/>
          <a:p>
            <a:pPr marL="0" indent="0" algn="ctr">
              <a:buNone/>
            </a:pPr>
            <a:r>
              <a:rPr lang="en-US" sz="1300" dirty="0">
                <a:solidFill>
                  <a:schemeClr val="tx1"/>
                </a:solidFill>
              </a:rPr>
              <a:t>hypothèses tracées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600" b="1" dirty="0">
                <a:solidFill>
                  <a:schemeClr val="tx2"/>
                </a:solidFill>
              </a:rPr>
              <a:t>Le pire : perdre définitivement les données</a:t>
            </a:r>
            <a:endParaRPr lang="en-US" sz="2600" dirty="0"/>
          </a:p>
        </p:txBody>
      </p:sp>
      <p:sp>
        <p:nvSpPr>
          <p:cNvPr id="3" name="Shape 1"/>
          <p:cNvSpPr/>
          <p:nvPr/>
        </p:nvSpPr>
        <p:spPr>
          <a:xfrm>
            <a:off x="457200" y="1188720"/>
            <a:ext cx="2606040" cy="1234440"/>
          </a:xfrm>
          <a:prstGeom prst="roundRect">
            <a:avLst>
              <a:gd name="adj" fmla="val 5926"/>
            </a:avLst>
          </a:prstGeom>
          <a:solidFill>
            <a:schemeClr val="bg2"/>
          </a:solidFill>
          <a:ln w="12700">
            <a:solidFill>
              <a:schemeClr val="bg2"/>
            </a:solidFill>
            <a:prstDash val="solid"/>
          </a:ln>
        </p:spPr>
        <p:txBody>
          <a:bodyPr/>
          <a:lstStyle/>
          <a:p>
            <a:endParaRPr lang="fr-FR"/>
          </a:p>
        </p:txBody>
      </p:sp>
      <p:sp>
        <p:nvSpPr>
          <p:cNvPr id="4" name="Shape 2"/>
          <p:cNvSpPr/>
          <p:nvPr/>
        </p:nvSpPr>
        <p:spPr>
          <a:xfrm>
            <a:off x="594360" y="1353312"/>
            <a:ext cx="548640" cy="548640"/>
          </a:xfrm>
          <a:prstGeom prst="ellipse">
            <a:avLst/>
          </a:prstGeom>
          <a:solidFill>
            <a:schemeClr val="accent1"/>
          </a:solidFill>
          <a:ln w="12700">
            <a:solidFill>
              <a:schemeClr val="accent1"/>
            </a:solidFill>
            <a:prstDash val="solid"/>
          </a:ln>
        </p:spPr>
        <p:txBody>
          <a:bodyPr/>
          <a:lstStyle/>
          <a:p>
            <a:endParaRPr lang="fr-FR"/>
          </a:p>
        </p:txBody>
      </p:sp>
      <p:sp>
        <p:nvSpPr>
          <p:cNvPr id="5" name="Text 3"/>
          <p:cNvSpPr txBox="1"/>
          <p:nvPr/>
        </p:nvSpPr>
        <p:spPr>
          <a:xfrm>
            <a:off x="594360" y="1353312"/>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G4</a:t>
            </a:r>
            <a:endParaRPr lang="en-US" sz="1400" dirty="0"/>
          </a:p>
        </p:txBody>
      </p:sp>
      <p:sp>
        <p:nvSpPr>
          <p:cNvPr id="6" name="Text 4"/>
          <p:cNvSpPr txBox="1"/>
          <p:nvPr/>
        </p:nvSpPr>
        <p:spPr>
          <a:xfrm>
            <a:off x="1280160" y="1353312"/>
            <a:ext cx="1691640" cy="274320"/>
          </a:xfrm>
          <a:prstGeom prst="rect">
            <a:avLst/>
          </a:prstGeom>
          <a:noFill/>
          <a:ln/>
        </p:spPr>
        <p:txBody>
          <a:bodyPr wrap="square" lIns="0" tIns="0" rIns="0" bIns="0" rtlCol="0" anchor="ctr"/>
          <a:lstStyle/>
          <a:p>
            <a:pPr marL="0" indent="0">
              <a:buNone/>
            </a:pPr>
            <a:r>
              <a:rPr lang="en-US" sz="1200" b="1" dirty="0">
                <a:solidFill>
                  <a:schemeClr val="accent5"/>
                </a:solidFill>
              </a:rPr>
              <a:t>VM4 · besoin I4 + T4</a:t>
            </a:r>
            <a:endParaRPr lang="en-US" sz="1200" dirty="0"/>
          </a:p>
        </p:txBody>
      </p:sp>
      <p:sp>
        <p:nvSpPr>
          <p:cNvPr id="7" name="Text 5"/>
          <p:cNvSpPr txBox="1"/>
          <p:nvPr/>
        </p:nvSpPr>
        <p:spPr>
          <a:xfrm>
            <a:off x="1280160" y="1600200"/>
            <a:ext cx="1691640" cy="731520"/>
          </a:xfrm>
          <a:prstGeom prst="rect">
            <a:avLst/>
          </a:prstGeom>
          <a:noFill/>
          <a:ln/>
        </p:spPr>
        <p:txBody>
          <a:bodyPr wrap="square" lIns="0" tIns="0" rIns="0" bIns="0" rtlCol="0" anchor="t"/>
          <a:lstStyle/>
          <a:p>
            <a:pPr marL="0" indent="0">
              <a:buNone/>
            </a:pPr>
            <a:r>
              <a:rPr lang="en-US" sz="1400" dirty="0">
                <a:solidFill>
                  <a:schemeClr val="tx1"/>
                </a:solidFill>
              </a:rPr>
              <a:t>Perte définitive des données comptables</a:t>
            </a:r>
            <a:endParaRPr lang="en-US" sz="1400" dirty="0"/>
          </a:p>
        </p:txBody>
      </p:sp>
      <p:sp>
        <p:nvSpPr>
          <p:cNvPr id="8" name="Shape 6"/>
          <p:cNvSpPr/>
          <p:nvPr/>
        </p:nvSpPr>
        <p:spPr>
          <a:xfrm>
            <a:off x="3246120" y="1188720"/>
            <a:ext cx="2606040" cy="1234440"/>
          </a:xfrm>
          <a:prstGeom prst="roundRect">
            <a:avLst>
              <a:gd name="adj" fmla="val 5926"/>
            </a:avLst>
          </a:prstGeom>
          <a:solidFill>
            <a:schemeClr val="bg2"/>
          </a:solidFill>
          <a:ln w="12700">
            <a:solidFill>
              <a:schemeClr val="bg2"/>
            </a:solidFill>
            <a:prstDash val="solid"/>
          </a:ln>
        </p:spPr>
        <p:txBody>
          <a:bodyPr/>
          <a:lstStyle/>
          <a:p>
            <a:endParaRPr lang="fr-FR"/>
          </a:p>
        </p:txBody>
      </p:sp>
      <p:sp>
        <p:nvSpPr>
          <p:cNvPr id="9" name="Shape 7"/>
          <p:cNvSpPr/>
          <p:nvPr/>
        </p:nvSpPr>
        <p:spPr>
          <a:xfrm>
            <a:off x="3383280" y="1353312"/>
            <a:ext cx="548640" cy="548640"/>
          </a:xfrm>
          <a:prstGeom prst="ellipse">
            <a:avLst/>
          </a:prstGeom>
          <a:solidFill>
            <a:schemeClr val="accent2"/>
          </a:solidFill>
          <a:ln w="12700">
            <a:solidFill>
              <a:schemeClr val="accent2"/>
            </a:solidFill>
            <a:prstDash val="solid"/>
          </a:ln>
        </p:spPr>
        <p:txBody>
          <a:bodyPr/>
          <a:lstStyle/>
          <a:p>
            <a:endParaRPr lang="fr-FR"/>
          </a:p>
        </p:txBody>
      </p:sp>
      <p:sp>
        <p:nvSpPr>
          <p:cNvPr id="10" name="Text 8"/>
          <p:cNvSpPr txBox="1"/>
          <p:nvPr/>
        </p:nvSpPr>
        <p:spPr>
          <a:xfrm>
            <a:off x="3383280" y="1353312"/>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G3</a:t>
            </a:r>
            <a:endParaRPr lang="en-US" sz="1400" dirty="0"/>
          </a:p>
        </p:txBody>
      </p:sp>
      <p:sp>
        <p:nvSpPr>
          <p:cNvPr id="11" name="Text 9"/>
          <p:cNvSpPr txBox="1"/>
          <p:nvPr/>
        </p:nvSpPr>
        <p:spPr>
          <a:xfrm>
            <a:off x="4069080" y="1353312"/>
            <a:ext cx="1691640" cy="274320"/>
          </a:xfrm>
          <a:prstGeom prst="rect">
            <a:avLst/>
          </a:prstGeom>
          <a:noFill/>
          <a:ln/>
        </p:spPr>
        <p:txBody>
          <a:bodyPr wrap="square" lIns="0" tIns="0" rIns="0" bIns="0" rtlCol="0" anchor="ctr"/>
          <a:lstStyle/>
          <a:p>
            <a:pPr marL="0" indent="0">
              <a:buNone/>
            </a:pPr>
            <a:r>
              <a:rPr lang="en-US" sz="1200" b="1" dirty="0">
                <a:solidFill>
                  <a:schemeClr val="accent5"/>
                </a:solidFill>
              </a:rPr>
              <a:t>VM1 · besoin D3</a:t>
            </a:r>
            <a:endParaRPr lang="en-US" sz="1200" dirty="0"/>
          </a:p>
        </p:txBody>
      </p:sp>
      <p:sp>
        <p:nvSpPr>
          <p:cNvPr id="12" name="Text 10"/>
          <p:cNvSpPr txBox="1"/>
          <p:nvPr/>
        </p:nvSpPr>
        <p:spPr>
          <a:xfrm>
            <a:off x="4069080" y="1600200"/>
            <a:ext cx="1691640" cy="731520"/>
          </a:xfrm>
          <a:prstGeom prst="rect">
            <a:avLst/>
          </a:prstGeom>
          <a:noFill/>
          <a:ln/>
        </p:spPr>
        <p:txBody>
          <a:bodyPr wrap="square" lIns="0" tIns="0" rIns="0" bIns="0" rtlCol="0" anchor="t"/>
          <a:lstStyle/>
          <a:p>
            <a:pPr marL="0" indent="0">
              <a:buNone/>
            </a:pPr>
            <a:r>
              <a:rPr lang="en-US" sz="1400" dirty="0">
                <a:solidFill>
                  <a:schemeClr val="tx1"/>
                </a:solidFill>
              </a:rPr>
              <a:t>Commandes impossibles plus d’une semaine</a:t>
            </a:r>
            <a:endParaRPr lang="en-US" sz="1400" dirty="0"/>
          </a:p>
        </p:txBody>
      </p:sp>
      <p:sp>
        <p:nvSpPr>
          <p:cNvPr id="13" name="Shape 11"/>
          <p:cNvSpPr/>
          <p:nvPr/>
        </p:nvSpPr>
        <p:spPr>
          <a:xfrm>
            <a:off x="6035040" y="1188720"/>
            <a:ext cx="2606040" cy="1234440"/>
          </a:xfrm>
          <a:prstGeom prst="roundRect">
            <a:avLst>
              <a:gd name="adj" fmla="val 5926"/>
            </a:avLst>
          </a:prstGeom>
          <a:solidFill>
            <a:schemeClr val="bg2"/>
          </a:solidFill>
          <a:ln w="12700">
            <a:solidFill>
              <a:schemeClr val="bg2"/>
            </a:solidFill>
            <a:prstDash val="solid"/>
          </a:ln>
        </p:spPr>
        <p:txBody>
          <a:bodyPr/>
          <a:lstStyle/>
          <a:p>
            <a:endParaRPr lang="fr-FR"/>
          </a:p>
        </p:txBody>
      </p:sp>
      <p:sp>
        <p:nvSpPr>
          <p:cNvPr id="14" name="Shape 12"/>
          <p:cNvSpPr/>
          <p:nvPr/>
        </p:nvSpPr>
        <p:spPr>
          <a:xfrm>
            <a:off x="6172200" y="1353312"/>
            <a:ext cx="548640" cy="548640"/>
          </a:xfrm>
          <a:prstGeom prst="ellipse">
            <a:avLst/>
          </a:prstGeom>
          <a:solidFill>
            <a:schemeClr val="accent2"/>
          </a:solidFill>
          <a:ln w="12700">
            <a:solidFill>
              <a:schemeClr val="accent2"/>
            </a:solidFill>
            <a:prstDash val="solid"/>
          </a:ln>
        </p:spPr>
        <p:txBody>
          <a:bodyPr/>
          <a:lstStyle/>
          <a:p>
            <a:endParaRPr lang="fr-FR"/>
          </a:p>
        </p:txBody>
      </p:sp>
      <p:sp>
        <p:nvSpPr>
          <p:cNvPr id="15" name="Text 13"/>
          <p:cNvSpPr txBox="1"/>
          <p:nvPr/>
        </p:nvSpPr>
        <p:spPr>
          <a:xfrm>
            <a:off x="6172200" y="1353312"/>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G3</a:t>
            </a:r>
            <a:endParaRPr lang="en-US" sz="1400" dirty="0"/>
          </a:p>
        </p:txBody>
      </p:sp>
      <p:sp>
        <p:nvSpPr>
          <p:cNvPr id="16" name="Text 14"/>
          <p:cNvSpPr txBox="1"/>
          <p:nvPr/>
        </p:nvSpPr>
        <p:spPr>
          <a:xfrm>
            <a:off x="6858000" y="1353312"/>
            <a:ext cx="1691640" cy="274320"/>
          </a:xfrm>
          <a:prstGeom prst="rect">
            <a:avLst/>
          </a:prstGeom>
          <a:noFill/>
          <a:ln/>
        </p:spPr>
        <p:txBody>
          <a:bodyPr wrap="square" lIns="0" tIns="0" rIns="0" bIns="0" rtlCol="0" anchor="ctr"/>
          <a:lstStyle/>
          <a:p>
            <a:pPr marL="0" indent="0">
              <a:buNone/>
            </a:pPr>
            <a:r>
              <a:rPr lang="en-US" sz="1200" b="1" dirty="0">
                <a:solidFill>
                  <a:schemeClr val="accent5"/>
                </a:solidFill>
              </a:rPr>
              <a:t>VM2 · besoin C3</a:t>
            </a:r>
            <a:endParaRPr lang="en-US" sz="1200" dirty="0"/>
          </a:p>
        </p:txBody>
      </p:sp>
      <p:sp>
        <p:nvSpPr>
          <p:cNvPr id="17" name="Text 15"/>
          <p:cNvSpPr txBox="1"/>
          <p:nvPr/>
        </p:nvSpPr>
        <p:spPr>
          <a:xfrm>
            <a:off x="6858000" y="1600200"/>
            <a:ext cx="1691640" cy="731520"/>
          </a:xfrm>
          <a:prstGeom prst="rect">
            <a:avLst/>
          </a:prstGeom>
          <a:noFill/>
          <a:ln/>
        </p:spPr>
        <p:txBody>
          <a:bodyPr wrap="square" lIns="0" tIns="0" rIns="0" bIns="0" rtlCol="0" anchor="t"/>
          <a:lstStyle/>
          <a:p>
            <a:pPr marL="0" indent="0">
              <a:buNone/>
            </a:pPr>
            <a:r>
              <a:rPr lang="en-US" sz="1400" dirty="0">
                <a:solidFill>
                  <a:schemeClr val="tx1"/>
                </a:solidFill>
              </a:rPr>
              <a:t>Vol du fichier clients</a:t>
            </a:r>
            <a:endParaRPr lang="en-US" sz="1400" dirty="0"/>
          </a:p>
        </p:txBody>
      </p:sp>
      <p:sp>
        <p:nvSpPr>
          <p:cNvPr id="18" name="Shape 16"/>
          <p:cNvSpPr/>
          <p:nvPr/>
        </p:nvSpPr>
        <p:spPr>
          <a:xfrm>
            <a:off x="457200" y="2606040"/>
            <a:ext cx="2606040" cy="1234440"/>
          </a:xfrm>
          <a:prstGeom prst="roundRect">
            <a:avLst>
              <a:gd name="adj" fmla="val 5926"/>
            </a:avLst>
          </a:prstGeom>
          <a:solidFill>
            <a:schemeClr val="bg2"/>
          </a:solidFill>
          <a:ln w="12700">
            <a:solidFill>
              <a:schemeClr val="bg2"/>
            </a:solidFill>
            <a:prstDash val="solid"/>
          </a:ln>
        </p:spPr>
        <p:txBody>
          <a:bodyPr/>
          <a:lstStyle/>
          <a:p>
            <a:endParaRPr lang="fr-FR"/>
          </a:p>
        </p:txBody>
      </p:sp>
      <p:sp>
        <p:nvSpPr>
          <p:cNvPr id="19" name="Shape 17"/>
          <p:cNvSpPr/>
          <p:nvPr/>
        </p:nvSpPr>
        <p:spPr>
          <a:xfrm>
            <a:off x="594360" y="2770632"/>
            <a:ext cx="548640" cy="548640"/>
          </a:xfrm>
          <a:prstGeom prst="ellipse">
            <a:avLst/>
          </a:prstGeom>
          <a:solidFill>
            <a:schemeClr val="accent2"/>
          </a:solidFill>
          <a:ln w="12700">
            <a:solidFill>
              <a:schemeClr val="accent2"/>
            </a:solidFill>
            <a:prstDash val="solid"/>
          </a:ln>
        </p:spPr>
        <p:txBody>
          <a:bodyPr/>
          <a:lstStyle/>
          <a:p>
            <a:endParaRPr lang="fr-FR"/>
          </a:p>
        </p:txBody>
      </p:sp>
      <p:sp>
        <p:nvSpPr>
          <p:cNvPr id="20" name="Text 18"/>
          <p:cNvSpPr txBox="1"/>
          <p:nvPr/>
        </p:nvSpPr>
        <p:spPr>
          <a:xfrm>
            <a:off x="594360" y="2770632"/>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rPr>
              <a:t>G3</a:t>
            </a:r>
            <a:endParaRPr lang="en-US" sz="1400" dirty="0"/>
          </a:p>
        </p:txBody>
      </p:sp>
      <p:sp>
        <p:nvSpPr>
          <p:cNvPr id="21" name="Text 19"/>
          <p:cNvSpPr txBox="1"/>
          <p:nvPr/>
        </p:nvSpPr>
        <p:spPr>
          <a:xfrm>
            <a:off x="1280160" y="2770632"/>
            <a:ext cx="1691640" cy="274320"/>
          </a:xfrm>
          <a:prstGeom prst="rect">
            <a:avLst/>
          </a:prstGeom>
          <a:noFill/>
          <a:ln/>
        </p:spPr>
        <p:txBody>
          <a:bodyPr wrap="square" lIns="0" tIns="0" rIns="0" bIns="0" rtlCol="0" anchor="ctr"/>
          <a:lstStyle/>
          <a:p>
            <a:pPr marL="0" indent="0">
              <a:buNone/>
            </a:pPr>
            <a:r>
              <a:rPr lang="en-US" sz="1200" b="1" dirty="0">
                <a:solidFill>
                  <a:schemeClr val="accent5"/>
                </a:solidFill>
              </a:rPr>
              <a:t>VM3 · besoin I4</a:t>
            </a:r>
            <a:endParaRPr lang="en-US" sz="1200" dirty="0"/>
          </a:p>
        </p:txBody>
      </p:sp>
      <p:sp>
        <p:nvSpPr>
          <p:cNvPr id="22" name="Text 20"/>
          <p:cNvSpPr txBox="1"/>
          <p:nvPr/>
        </p:nvSpPr>
        <p:spPr>
          <a:xfrm>
            <a:off x="1280160" y="3017520"/>
            <a:ext cx="1691640" cy="731520"/>
          </a:xfrm>
          <a:prstGeom prst="rect">
            <a:avLst/>
          </a:prstGeom>
          <a:noFill/>
          <a:ln/>
        </p:spPr>
        <p:txBody>
          <a:bodyPr wrap="square" lIns="0" tIns="0" rIns="0" bIns="0" rtlCol="0" anchor="t"/>
          <a:lstStyle/>
          <a:p>
            <a:pPr marL="0" indent="0">
              <a:buNone/>
            </a:pPr>
            <a:r>
              <a:rPr lang="en-US" sz="1400" dirty="0">
                <a:solidFill>
                  <a:schemeClr val="tx1"/>
                </a:solidFill>
              </a:rPr>
              <a:t>Fraude au RIB sur les factures</a:t>
            </a:r>
            <a:endParaRPr lang="en-US" sz="1400" dirty="0"/>
          </a:p>
        </p:txBody>
      </p:sp>
      <p:sp>
        <p:nvSpPr>
          <p:cNvPr id="23" name="Shape 21"/>
          <p:cNvSpPr/>
          <p:nvPr/>
        </p:nvSpPr>
        <p:spPr>
          <a:xfrm>
            <a:off x="3246120" y="2606040"/>
            <a:ext cx="2606040" cy="1234440"/>
          </a:xfrm>
          <a:prstGeom prst="roundRect">
            <a:avLst>
              <a:gd name="adj" fmla="val 5926"/>
            </a:avLst>
          </a:prstGeom>
          <a:solidFill>
            <a:schemeClr val="bg2"/>
          </a:solidFill>
          <a:ln w="12700">
            <a:solidFill>
              <a:schemeClr val="bg2"/>
            </a:solidFill>
            <a:prstDash val="solid"/>
          </a:ln>
        </p:spPr>
        <p:txBody>
          <a:bodyPr/>
          <a:lstStyle/>
          <a:p>
            <a:endParaRPr lang="fr-FR"/>
          </a:p>
        </p:txBody>
      </p:sp>
      <p:sp>
        <p:nvSpPr>
          <p:cNvPr id="24" name="Shape 22"/>
          <p:cNvSpPr/>
          <p:nvPr/>
        </p:nvSpPr>
        <p:spPr>
          <a:xfrm>
            <a:off x="3383280" y="2770632"/>
            <a:ext cx="548640" cy="548640"/>
          </a:xfrm>
          <a:prstGeom prst="ellipse">
            <a:avLst/>
          </a:prstGeom>
          <a:solidFill>
            <a:schemeClr val="accent6"/>
          </a:solidFill>
          <a:ln w="12700">
            <a:solidFill>
              <a:schemeClr val="accent6"/>
            </a:solidFill>
            <a:prstDash val="solid"/>
          </a:ln>
        </p:spPr>
        <p:txBody>
          <a:bodyPr/>
          <a:lstStyle/>
          <a:p>
            <a:endParaRPr lang="fr-FR"/>
          </a:p>
        </p:txBody>
      </p:sp>
      <p:sp>
        <p:nvSpPr>
          <p:cNvPr id="25" name="Text 23"/>
          <p:cNvSpPr txBox="1"/>
          <p:nvPr/>
        </p:nvSpPr>
        <p:spPr>
          <a:xfrm>
            <a:off x="3383280" y="2770632"/>
            <a:ext cx="548640" cy="548640"/>
          </a:xfrm>
          <a:prstGeom prst="rect">
            <a:avLst/>
          </a:prstGeom>
          <a:noFill/>
          <a:ln/>
        </p:spPr>
        <p:txBody>
          <a:bodyPr wrap="square" lIns="0" tIns="0" rIns="0" bIns="0" rtlCol="0" anchor="ctr"/>
          <a:lstStyle/>
          <a:p>
            <a:pPr marL="0" indent="0" algn="ctr">
              <a:buNone/>
            </a:pPr>
            <a:r>
              <a:rPr lang="en-US" sz="1400" b="1" dirty="0">
                <a:solidFill>
                  <a:schemeClr val="tx1"/>
                </a:solidFill>
              </a:rPr>
              <a:t>G2</a:t>
            </a:r>
            <a:endParaRPr lang="en-US" sz="1400" dirty="0"/>
          </a:p>
        </p:txBody>
      </p:sp>
      <p:sp>
        <p:nvSpPr>
          <p:cNvPr id="26" name="Text 24"/>
          <p:cNvSpPr txBox="1"/>
          <p:nvPr/>
        </p:nvSpPr>
        <p:spPr>
          <a:xfrm>
            <a:off x="4069080" y="2770632"/>
            <a:ext cx="1691640" cy="274320"/>
          </a:xfrm>
          <a:prstGeom prst="rect">
            <a:avLst/>
          </a:prstGeom>
          <a:noFill/>
          <a:ln/>
        </p:spPr>
        <p:txBody>
          <a:bodyPr wrap="square" lIns="0" tIns="0" rIns="0" bIns="0" rtlCol="0" anchor="ctr"/>
          <a:lstStyle/>
          <a:p>
            <a:pPr marL="0" indent="0">
              <a:buNone/>
            </a:pPr>
            <a:r>
              <a:rPr lang="en-US" sz="1200" b="1" dirty="0">
                <a:solidFill>
                  <a:schemeClr val="accent5"/>
                </a:solidFill>
              </a:rPr>
              <a:t>VM3 · besoin D2</a:t>
            </a:r>
            <a:endParaRPr lang="en-US" sz="1200" dirty="0"/>
          </a:p>
        </p:txBody>
      </p:sp>
      <p:sp>
        <p:nvSpPr>
          <p:cNvPr id="27" name="Text 25"/>
          <p:cNvSpPr txBox="1"/>
          <p:nvPr/>
        </p:nvSpPr>
        <p:spPr>
          <a:xfrm>
            <a:off x="4069080" y="3017520"/>
            <a:ext cx="1691640" cy="731520"/>
          </a:xfrm>
          <a:prstGeom prst="rect">
            <a:avLst/>
          </a:prstGeom>
          <a:noFill/>
          <a:ln/>
        </p:spPr>
        <p:txBody>
          <a:bodyPr wrap="square" lIns="0" tIns="0" rIns="0" bIns="0" rtlCol="0" anchor="t"/>
          <a:lstStyle/>
          <a:p>
            <a:pPr marL="0" indent="0">
              <a:buNone/>
            </a:pPr>
            <a:r>
              <a:rPr lang="en-US" sz="1400" dirty="0">
                <a:solidFill>
                  <a:schemeClr val="tx1"/>
                </a:solidFill>
              </a:rPr>
              <a:t>Facturation interrompue plus de 2 semaines</a:t>
            </a:r>
            <a:endParaRPr lang="en-US" sz="1400" dirty="0"/>
          </a:p>
        </p:txBody>
      </p:sp>
      <p:sp>
        <p:nvSpPr>
          <p:cNvPr id="28" name="Shape 26"/>
          <p:cNvSpPr/>
          <p:nvPr/>
        </p:nvSpPr>
        <p:spPr>
          <a:xfrm>
            <a:off x="6035040" y="2606040"/>
            <a:ext cx="2606040" cy="1234440"/>
          </a:xfrm>
          <a:prstGeom prst="roundRect">
            <a:avLst>
              <a:gd name="adj" fmla="val 5926"/>
            </a:avLst>
          </a:prstGeom>
          <a:solidFill>
            <a:schemeClr val="bg2"/>
          </a:solidFill>
          <a:ln w="12700">
            <a:solidFill>
              <a:schemeClr val="bg2"/>
            </a:solidFill>
            <a:prstDash val="solid"/>
          </a:ln>
        </p:spPr>
        <p:txBody>
          <a:bodyPr/>
          <a:lstStyle/>
          <a:p>
            <a:endParaRPr lang="fr-FR"/>
          </a:p>
        </p:txBody>
      </p:sp>
      <p:sp>
        <p:nvSpPr>
          <p:cNvPr id="29" name="Shape 27"/>
          <p:cNvSpPr/>
          <p:nvPr/>
        </p:nvSpPr>
        <p:spPr>
          <a:xfrm>
            <a:off x="6172200" y="2770632"/>
            <a:ext cx="548640" cy="548640"/>
          </a:xfrm>
          <a:prstGeom prst="ellipse">
            <a:avLst/>
          </a:prstGeom>
          <a:solidFill>
            <a:schemeClr val="accent6"/>
          </a:solidFill>
          <a:ln w="12700">
            <a:solidFill>
              <a:schemeClr val="accent6"/>
            </a:solidFill>
            <a:prstDash val="solid"/>
          </a:ln>
        </p:spPr>
        <p:txBody>
          <a:bodyPr/>
          <a:lstStyle/>
          <a:p>
            <a:endParaRPr lang="fr-FR"/>
          </a:p>
        </p:txBody>
      </p:sp>
      <p:sp>
        <p:nvSpPr>
          <p:cNvPr id="30" name="Text 28"/>
          <p:cNvSpPr txBox="1"/>
          <p:nvPr/>
        </p:nvSpPr>
        <p:spPr>
          <a:xfrm>
            <a:off x="6172200" y="2770632"/>
            <a:ext cx="548640" cy="548640"/>
          </a:xfrm>
          <a:prstGeom prst="rect">
            <a:avLst/>
          </a:prstGeom>
          <a:noFill/>
          <a:ln/>
        </p:spPr>
        <p:txBody>
          <a:bodyPr wrap="square" lIns="0" tIns="0" rIns="0" bIns="0" rtlCol="0" anchor="ctr"/>
          <a:lstStyle/>
          <a:p>
            <a:pPr marL="0" indent="0" algn="ctr">
              <a:buNone/>
            </a:pPr>
            <a:r>
              <a:rPr lang="en-US" sz="1400" b="1" dirty="0">
                <a:solidFill>
                  <a:schemeClr val="tx1"/>
                </a:solidFill>
              </a:rPr>
              <a:t>G2</a:t>
            </a:r>
            <a:endParaRPr lang="en-US" sz="1400" dirty="0"/>
          </a:p>
        </p:txBody>
      </p:sp>
      <p:sp>
        <p:nvSpPr>
          <p:cNvPr id="31" name="Text 29"/>
          <p:cNvSpPr txBox="1"/>
          <p:nvPr/>
        </p:nvSpPr>
        <p:spPr>
          <a:xfrm>
            <a:off x="6858000" y="2770632"/>
            <a:ext cx="1691640" cy="274320"/>
          </a:xfrm>
          <a:prstGeom prst="rect">
            <a:avLst/>
          </a:prstGeom>
          <a:noFill/>
          <a:ln/>
        </p:spPr>
        <p:txBody>
          <a:bodyPr wrap="square" lIns="0" tIns="0" rIns="0" bIns="0" rtlCol="0" anchor="ctr"/>
          <a:lstStyle/>
          <a:p>
            <a:pPr marL="0" indent="0">
              <a:buNone/>
            </a:pPr>
            <a:r>
              <a:rPr lang="en-US" sz="1200" b="1" dirty="0">
                <a:solidFill>
                  <a:schemeClr val="accent5"/>
                </a:solidFill>
              </a:rPr>
              <a:t>VM5 · besoin D2</a:t>
            </a:r>
            <a:endParaRPr lang="en-US" sz="1200" dirty="0"/>
          </a:p>
        </p:txBody>
      </p:sp>
      <p:sp>
        <p:nvSpPr>
          <p:cNvPr id="32" name="Text 30"/>
          <p:cNvSpPr txBox="1"/>
          <p:nvPr/>
        </p:nvSpPr>
        <p:spPr>
          <a:xfrm>
            <a:off x="6858000" y="3017520"/>
            <a:ext cx="1691640" cy="731520"/>
          </a:xfrm>
          <a:prstGeom prst="rect">
            <a:avLst/>
          </a:prstGeom>
          <a:noFill/>
          <a:ln/>
        </p:spPr>
        <p:txBody>
          <a:bodyPr wrap="square" lIns="0" tIns="0" rIns="0" bIns="0" rtlCol="0" anchor="t"/>
          <a:lstStyle/>
          <a:p>
            <a:pPr marL="0" indent="0">
              <a:buNone/>
            </a:pPr>
            <a:r>
              <a:rPr lang="en-US" sz="1400" dirty="0">
                <a:solidFill>
                  <a:schemeClr val="tx1"/>
                </a:solidFill>
              </a:rPr>
              <a:t>Stocks indisponibles plus de 3 jours</a:t>
            </a:r>
            <a:endParaRPr lang="en-US" sz="1400" dirty="0"/>
          </a:p>
        </p:txBody>
      </p:sp>
      <p:sp>
        <p:nvSpPr>
          <p:cNvPr id="33" name="Text 31"/>
          <p:cNvSpPr txBox="1"/>
          <p:nvPr/>
        </p:nvSpPr>
        <p:spPr>
          <a:xfrm>
            <a:off x="457200" y="4160520"/>
            <a:ext cx="8229600" cy="457200"/>
          </a:xfrm>
          <a:prstGeom prst="rect">
            <a:avLst/>
          </a:prstGeom>
          <a:noFill/>
          <a:ln/>
        </p:spPr>
        <p:txBody>
          <a:bodyPr wrap="square" lIns="0" tIns="0" rIns="0" bIns="0" rtlCol="0" anchor="ctr"/>
          <a:lstStyle/>
          <a:p>
            <a:pPr marL="0" indent="0">
              <a:buNone/>
            </a:pPr>
            <a:r>
              <a:rPr lang="en-US" sz="1400" i="1" dirty="0">
                <a:solidFill>
                  <a:schemeClr val="tx2"/>
                </a:solidFill>
              </a:rPr>
              <a:t>Un seul G4 : faute de test de restauration documenté et de copie hors ligne (H07, H08), la perte serait irréversible.</a:t>
            </a:r>
            <a:endParaRPr lang="en-US" sz="1400" dirty="0"/>
          </a:p>
        </p:txBody>
      </p:sp>
      <p:sp>
        <p:nvSpPr>
          <p:cNvPr id="34"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600" b="1" dirty="0">
                <a:solidFill>
                  <a:schemeClr val="tx2"/>
                </a:solidFill>
              </a:rPr>
              <a:t>Trois menaces retenues, cinq chemins d’attaque</a:t>
            </a:r>
            <a:endParaRPr lang="en-US" sz="2600" dirty="0"/>
          </a:p>
        </p:txBody>
      </p:sp>
      <p:pic>
        <p:nvPicPr>
          <p:cNvPr id="3" name="Image 0" descr="Carto_sources_de_risque.png"/>
          <p:cNvPicPr>
            <a:picLocks noChangeAspect="1"/>
          </p:cNvPicPr>
          <p:nvPr/>
        </p:nvPicPr>
        <p:blipFill>
          <a:blip r:embed="rId3"/>
          <a:stretch>
            <a:fillRect/>
          </a:stretch>
        </p:blipFill>
        <p:spPr>
          <a:xfrm>
            <a:off x="365760" y="1005840"/>
            <a:ext cx="4480560" cy="2503415"/>
          </a:xfrm>
          <a:prstGeom prst="rect">
            <a:avLst/>
          </a:prstGeom>
        </p:spPr>
      </p:pic>
      <p:sp>
        <p:nvSpPr>
          <p:cNvPr id="4" name="Text 1"/>
          <p:cNvSpPr txBox="1"/>
          <p:nvPr/>
        </p:nvSpPr>
        <p:spPr>
          <a:xfrm>
            <a:off x="5120640" y="1051560"/>
            <a:ext cx="3566160" cy="274320"/>
          </a:xfrm>
          <a:prstGeom prst="rect">
            <a:avLst/>
          </a:prstGeom>
          <a:noFill/>
          <a:ln/>
        </p:spPr>
        <p:txBody>
          <a:bodyPr wrap="square" lIns="0" tIns="0" rIns="0" bIns="0" rtlCol="0" anchor="ctr"/>
          <a:lstStyle/>
          <a:p>
            <a:pPr marL="0" indent="0">
              <a:buNone/>
            </a:pPr>
            <a:r>
              <a:rPr lang="en-US" sz="1300" b="1" dirty="0">
                <a:solidFill>
                  <a:schemeClr val="tx2"/>
                </a:solidFill>
              </a:rPr>
              <a:t>Chemins d’attaque</a:t>
            </a:r>
            <a:endParaRPr lang="en-US" sz="1300" dirty="0"/>
          </a:p>
        </p:txBody>
      </p:sp>
      <p:sp>
        <p:nvSpPr>
          <p:cNvPr id="5" name="Shape 2"/>
          <p:cNvSpPr/>
          <p:nvPr/>
        </p:nvSpPr>
        <p:spPr>
          <a:xfrm>
            <a:off x="5120640" y="1417320"/>
            <a:ext cx="3566160" cy="457200"/>
          </a:xfrm>
          <a:prstGeom prst="roundRect">
            <a:avLst>
              <a:gd name="adj" fmla="val 16000"/>
            </a:avLst>
          </a:prstGeom>
          <a:solidFill>
            <a:schemeClr val="bg2"/>
          </a:solidFill>
          <a:ln w="12700">
            <a:solidFill>
              <a:schemeClr val="bg2"/>
            </a:solidFill>
            <a:prstDash val="solid"/>
          </a:ln>
        </p:spPr>
        <p:txBody>
          <a:bodyPr/>
          <a:lstStyle/>
          <a:p>
            <a:endParaRPr lang="fr-FR"/>
          </a:p>
        </p:txBody>
      </p:sp>
      <p:sp>
        <p:nvSpPr>
          <p:cNvPr id="6" name="Text 3"/>
          <p:cNvSpPr txBox="1"/>
          <p:nvPr/>
        </p:nvSpPr>
        <p:spPr>
          <a:xfrm>
            <a:off x="5257800" y="1417320"/>
            <a:ext cx="548640" cy="457200"/>
          </a:xfrm>
          <a:prstGeom prst="rect">
            <a:avLst/>
          </a:prstGeom>
          <a:noFill/>
          <a:ln/>
        </p:spPr>
        <p:txBody>
          <a:bodyPr wrap="square" lIns="0" tIns="0" rIns="0" bIns="0" rtlCol="0" anchor="ctr"/>
          <a:lstStyle/>
          <a:p>
            <a:pPr marL="0" indent="0">
              <a:buNone/>
            </a:pPr>
            <a:r>
              <a:rPr lang="en-US" sz="1300" b="1" dirty="0">
                <a:solidFill>
                  <a:schemeClr val="tx2"/>
                </a:solidFill>
              </a:rPr>
              <a:t>SS1</a:t>
            </a:r>
            <a:endParaRPr lang="en-US" sz="1300" dirty="0"/>
          </a:p>
        </p:txBody>
      </p:sp>
      <p:sp>
        <p:nvSpPr>
          <p:cNvPr id="7" name="Text 4"/>
          <p:cNvSpPr txBox="1"/>
          <p:nvPr/>
        </p:nvSpPr>
        <p:spPr>
          <a:xfrm>
            <a:off x="5806440" y="1417320"/>
            <a:ext cx="2331720" cy="457200"/>
          </a:xfrm>
          <a:prstGeom prst="rect">
            <a:avLst/>
          </a:prstGeom>
          <a:noFill/>
          <a:ln/>
        </p:spPr>
        <p:txBody>
          <a:bodyPr wrap="square" lIns="0" tIns="0" rIns="0" bIns="0" rtlCol="0" anchor="ctr"/>
          <a:lstStyle/>
          <a:p>
            <a:pPr marL="0" indent="0">
              <a:buNone/>
            </a:pPr>
            <a:r>
              <a:rPr lang="en-US" sz="1200" dirty="0">
                <a:solidFill>
                  <a:schemeClr val="tx1"/>
                </a:solidFill>
              </a:rPr>
              <a:t>Infogérant + console de l’hébergeur</a:t>
            </a:r>
            <a:endParaRPr lang="en-US" sz="1200" dirty="0"/>
          </a:p>
        </p:txBody>
      </p:sp>
      <p:sp>
        <p:nvSpPr>
          <p:cNvPr id="8" name="Text 5"/>
          <p:cNvSpPr txBox="1"/>
          <p:nvPr/>
        </p:nvSpPr>
        <p:spPr>
          <a:xfrm>
            <a:off x="8138160" y="1417320"/>
            <a:ext cx="457200" cy="457200"/>
          </a:xfrm>
          <a:prstGeom prst="rect">
            <a:avLst/>
          </a:prstGeom>
          <a:noFill/>
          <a:ln/>
        </p:spPr>
        <p:txBody>
          <a:bodyPr wrap="square" lIns="0" tIns="0" rIns="0" bIns="0" rtlCol="0" anchor="ctr"/>
          <a:lstStyle/>
          <a:p>
            <a:pPr marL="0" indent="0" algn="r">
              <a:buNone/>
            </a:pPr>
            <a:r>
              <a:rPr lang="en-US" sz="1300" b="1" dirty="0">
                <a:solidFill>
                  <a:schemeClr val="accent1"/>
                </a:solidFill>
              </a:rPr>
              <a:t>G4</a:t>
            </a:r>
            <a:endParaRPr lang="en-US" sz="1300" dirty="0"/>
          </a:p>
        </p:txBody>
      </p:sp>
      <p:sp>
        <p:nvSpPr>
          <p:cNvPr id="9" name="Shape 6"/>
          <p:cNvSpPr/>
          <p:nvPr/>
        </p:nvSpPr>
        <p:spPr>
          <a:xfrm>
            <a:off x="5120640" y="1984248"/>
            <a:ext cx="3566160" cy="457200"/>
          </a:xfrm>
          <a:prstGeom prst="roundRect">
            <a:avLst>
              <a:gd name="adj" fmla="val 16000"/>
            </a:avLst>
          </a:prstGeom>
          <a:solidFill>
            <a:schemeClr val="bg2"/>
          </a:solidFill>
          <a:ln w="12700">
            <a:solidFill>
              <a:schemeClr val="bg2"/>
            </a:solidFill>
            <a:prstDash val="solid"/>
          </a:ln>
        </p:spPr>
        <p:txBody>
          <a:bodyPr/>
          <a:lstStyle/>
          <a:p>
            <a:endParaRPr lang="fr-FR"/>
          </a:p>
        </p:txBody>
      </p:sp>
      <p:sp>
        <p:nvSpPr>
          <p:cNvPr id="10" name="Text 7"/>
          <p:cNvSpPr txBox="1"/>
          <p:nvPr/>
        </p:nvSpPr>
        <p:spPr>
          <a:xfrm>
            <a:off x="5257800" y="1984248"/>
            <a:ext cx="548640" cy="457200"/>
          </a:xfrm>
          <a:prstGeom prst="rect">
            <a:avLst/>
          </a:prstGeom>
          <a:noFill/>
          <a:ln/>
        </p:spPr>
        <p:txBody>
          <a:bodyPr wrap="square" lIns="0" tIns="0" rIns="0" bIns="0" rtlCol="0" anchor="ctr"/>
          <a:lstStyle/>
          <a:p>
            <a:pPr marL="0" indent="0">
              <a:buNone/>
            </a:pPr>
            <a:r>
              <a:rPr lang="en-US" sz="1300" b="1" dirty="0">
                <a:solidFill>
                  <a:schemeClr val="tx2"/>
                </a:solidFill>
              </a:rPr>
              <a:t>SS2</a:t>
            </a:r>
            <a:endParaRPr lang="en-US" sz="1300" dirty="0"/>
          </a:p>
        </p:txBody>
      </p:sp>
      <p:sp>
        <p:nvSpPr>
          <p:cNvPr id="11" name="Text 8"/>
          <p:cNvSpPr txBox="1"/>
          <p:nvPr/>
        </p:nvSpPr>
        <p:spPr>
          <a:xfrm>
            <a:off x="5806440" y="1984248"/>
            <a:ext cx="2331720" cy="457200"/>
          </a:xfrm>
          <a:prstGeom prst="rect">
            <a:avLst/>
          </a:prstGeom>
          <a:noFill/>
          <a:ln/>
        </p:spPr>
        <p:txBody>
          <a:bodyPr wrap="square" lIns="0" tIns="0" rIns="0" bIns="0" rtlCol="0" anchor="ctr"/>
          <a:lstStyle/>
          <a:p>
            <a:pPr marL="0" indent="0">
              <a:buNone/>
            </a:pPr>
            <a:r>
              <a:rPr lang="en-US" sz="1200" dirty="0">
                <a:solidFill>
                  <a:schemeClr val="tx1"/>
                </a:solidFill>
              </a:rPr>
              <a:t>Éditeur de l’ERP</a:t>
            </a:r>
            <a:endParaRPr lang="en-US" sz="1200" dirty="0"/>
          </a:p>
        </p:txBody>
      </p:sp>
      <p:sp>
        <p:nvSpPr>
          <p:cNvPr id="12" name="Text 9"/>
          <p:cNvSpPr txBox="1"/>
          <p:nvPr/>
        </p:nvSpPr>
        <p:spPr>
          <a:xfrm>
            <a:off x="8138160" y="1984248"/>
            <a:ext cx="457200" cy="457200"/>
          </a:xfrm>
          <a:prstGeom prst="rect">
            <a:avLst/>
          </a:prstGeom>
          <a:noFill/>
          <a:ln/>
        </p:spPr>
        <p:txBody>
          <a:bodyPr wrap="square" lIns="0" tIns="0" rIns="0" bIns="0" rtlCol="0" anchor="ctr"/>
          <a:lstStyle/>
          <a:p>
            <a:pPr marL="0" indent="0" algn="r">
              <a:buNone/>
            </a:pPr>
            <a:r>
              <a:rPr lang="en-US" sz="1300" b="1" dirty="0">
                <a:solidFill>
                  <a:schemeClr val="accent2"/>
                </a:solidFill>
              </a:rPr>
              <a:t>G3</a:t>
            </a:r>
            <a:endParaRPr lang="en-US" sz="1300" dirty="0"/>
          </a:p>
        </p:txBody>
      </p:sp>
      <p:sp>
        <p:nvSpPr>
          <p:cNvPr id="13" name="Shape 10"/>
          <p:cNvSpPr/>
          <p:nvPr/>
        </p:nvSpPr>
        <p:spPr>
          <a:xfrm>
            <a:off x="5120640" y="2551176"/>
            <a:ext cx="3566160" cy="457200"/>
          </a:xfrm>
          <a:prstGeom prst="roundRect">
            <a:avLst>
              <a:gd name="adj" fmla="val 16000"/>
            </a:avLst>
          </a:prstGeom>
          <a:solidFill>
            <a:schemeClr val="bg2"/>
          </a:solidFill>
          <a:ln w="12700">
            <a:solidFill>
              <a:schemeClr val="bg2"/>
            </a:solidFill>
            <a:prstDash val="solid"/>
          </a:ln>
        </p:spPr>
        <p:txBody>
          <a:bodyPr/>
          <a:lstStyle/>
          <a:p>
            <a:endParaRPr lang="fr-FR"/>
          </a:p>
        </p:txBody>
      </p:sp>
      <p:sp>
        <p:nvSpPr>
          <p:cNvPr id="14" name="Text 11"/>
          <p:cNvSpPr txBox="1"/>
          <p:nvPr/>
        </p:nvSpPr>
        <p:spPr>
          <a:xfrm>
            <a:off x="5257800" y="2551176"/>
            <a:ext cx="548640" cy="457200"/>
          </a:xfrm>
          <a:prstGeom prst="rect">
            <a:avLst/>
          </a:prstGeom>
          <a:noFill/>
          <a:ln/>
        </p:spPr>
        <p:txBody>
          <a:bodyPr wrap="square" lIns="0" tIns="0" rIns="0" bIns="0" rtlCol="0" anchor="ctr"/>
          <a:lstStyle/>
          <a:p>
            <a:pPr marL="0" indent="0">
              <a:buNone/>
            </a:pPr>
            <a:r>
              <a:rPr lang="en-US" sz="1300" b="1" dirty="0">
                <a:solidFill>
                  <a:schemeClr val="tx2"/>
                </a:solidFill>
              </a:rPr>
              <a:t>SS3</a:t>
            </a:r>
            <a:endParaRPr lang="en-US" sz="1300" dirty="0"/>
          </a:p>
        </p:txBody>
      </p:sp>
      <p:sp>
        <p:nvSpPr>
          <p:cNvPr id="15" name="Text 12"/>
          <p:cNvSpPr txBox="1"/>
          <p:nvPr/>
        </p:nvSpPr>
        <p:spPr>
          <a:xfrm>
            <a:off x="5806440" y="2551176"/>
            <a:ext cx="2331720" cy="457200"/>
          </a:xfrm>
          <a:prstGeom prst="rect">
            <a:avLst/>
          </a:prstGeom>
          <a:noFill/>
          <a:ln/>
        </p:spPr>
        <p:txBody>
          <a:bodyPr wrap="square" lIns="0" tIns="0" rIns="0" bIns="0" rtlCol="0" anchor="ctr"/>
          <a:lstStyle/>
          <a:p>
            <a:pPr marL="0" indent="0">
              <a:buNone/>
            </a:pPr>
            <a:r>
              <a:rPr lang="en-US" sz="1200" dirty="0">
                <a:solidFill>
                  <a:schemeClr val="tx1"/>
                </a:solidFill>
              </a:rPr>
              <a:t>Direct : poste d’un salarié</a:t>
            </a:r>
            <a:endParaRPr lang="en-US" sz="1200" dirty="0"/>
          </a:p>
        </p:txBody>
      </p:sp>
      <p:sp>
        <p:nvSpPr>
          <p:cNvPr id="16" name="Text 13"/>
          <p:cNvSpPr txBox="1"/>
          <p:nvPr/>
        </p:nvSpPr>
        <p:spPr>
          <a:xfrm>
            <a:off x="8138160" y="2551176"/>
            <a:ext cx="457200" cy="457200"/>
          </a:xfrm>
          <a:prstGeom prst="rect">
            <a:avLst/>
          </a:prstGeom>
          <a:noFill/>
          <a:ln/>
        </p:spPr>
        <p:txBody>
          <a:bodyPr wrap="square" lIns="0" tIns="0" rIns="0" bIns="0" rtlCol="0" anchor="ctr"/>
          <a:lstStyle/>
          <a:p>
            <a:pPr marL="0" indent="0" algn="r">
              <a:buNone/>
            </a:pPr>
            <a:r>
              <a:rPr lang="en-US" sz="1300" b="1" dirty="0">
                <a:solidFill>
                  <a:schemeClr val="accent1"/>
                </a:solidFill>
              </a:rPr>
              <a:t>G4</a:t>
            </a:r>
            <a:endParaRPr lang="en-US" sz="1300" dirty="0"/>
          </a:p>
        </p:txBody>
      </p:sp>
      <p:sp>
        <p:nvSpPr>
          <p:cNvPr id="17" name="Shape 14"/>
          <p:cNvSpPr/>
          <p:nvPr/>
        </p:nvSpPr>
        <p:spPr>
          <a:xfrm>
            <a:off x="5120640" y="3118104"/>
            <a:ext cx="3566160" cy="457200"/>
          </a:xfrm>
          <a:prstGeom prst="roundRect">
            <a:avLst>
              <a:gd name="adj" fmla="val 16000"/>
            </a:avLst>
          </a:prstGeom>
          <a:solidFill>
            <a:schemeClr val="bg2"/>
          </a:solidFill>
          <a:ln w="12700">
            <a:solidFill>
              <a:schemeClr val="bg2"/>
            </a:solidFill>
            <a:prstDash val="solid"/>
          </a:ln>
        </p:spPr>
        <p:txBody>
          <a:bodyPr/>
          <a:lstStyle/>
          <a:p>
            <a:endParaRPr lang="fr-FR"/>
          </a:p>
        </p:txBody>
      </p:sp>
      <p:sp>
        <p:nvSpPr>
          <p:cNvPr id="18" name="Text 15"/>
          <p:cNvSpPr txBox="1"/>
          <p:nvPr/>
        </p:nvSpPr>
        <p:spPr>
          <a:xfrm>
            <a:off x="5257800" y="3118104"/>
            <a:ext cx="548640" cy="457200"/>
          </a:xfrm>
          <a:prstGeom prst="rect">
            <a:avLst/>
          </a:prstGeom>
          <a:noFill/>
          <a:ln/>
        </p:spPr>
        <p:txBody>
          <a:bodyPr wrap="square" lIns="0" tIns="0" rIns="0" bIns="0" rtlCol="0" anchor="ctr"/>
          <a:lstStyle/>
          <a:p>
            <a:pPr marL="0" indent="0">
              <a:buNone/>
            </a:pPr>
            <a:r>
              <a:rPr lang="en-US" sz="1300" b="1" dirty="0">
                <a:solidFill>
                  <a:schemeClr val="tx2"/>
                </a:solidFill>
              </a:rPr>
              <a:t>SS4</a:t>
            </a:r>
            <a:endParaRPr lang="en-US" sz="1300" dirty="0"/>
          </a:p>
        </p:txBody>
      </p:sp>
      <p:sp>
        <p:nvSpPr>
          <p:cNvPr id="19" name="Text 16"/>
          <p:cNvSpPr txBox="1"/>
          <p:nvPr/>
        </p:nvSpPr>
        <p:spPr>
          <a:xfrm>
            <a:off x="5806440" y="3118104"/>
            <a:ext cx="2331720" cy="457200"/>
          </a:xfrm>
          <a:prstGeom prst="rect">
            <a:avLst/>
          </a:prstGeom>
          <a:noFill/>
          <a:ln/>
        </p:spPr>
        <p:txBody>
          <a:bodyPr wrap="square" lIns="0" tIns="0" rIns="0" bIns="0" rtlCol="0" anchor="ctr"/>
          <a:lstStyle/>
          <a:p>
            <a:pPr marL="0" indent="0">
              <a:buNone/>
            </a:pPr>
            <a:r>
              <a:rPr lang="en-US" sz="1200" dirty="0">
                <a:solidFill>
                  <a:schemeClr val="tx1"/>
                </a:solidFill>
              </a:rPr>
              <a:t>Direct : messagerie d’un salarié</a:t>
            </a:r>
            <a:endParaRPr lang="en-US" sz="1200" dirty="0"/>
          </a:p>
        </p:txBody>
      </p:sp>
      <p:sp>
        <p:nvSpPr>
          <p:cNvPr id="20" name="Text 17"/>
          <p:cNvSpPr txBox="1"/>
          <p:nvPr/>
        </p:nvSpPr>
        <p:spPr>
          <a:xfrm>
            <a:off x="8138160" y="3118104"/>
            <a:ext cx="457200" cy="457200"/>
          </a:xfrm>
          <a:prstGeom prst="rect">
            <a:avLst/>
          </a:prstGeom>
          <a:noFill/>
          <a:ln/>
        </p:spPr>
        <p:txBody>
          <a:bodyPr wrap="square" lIns="0" tIns="0" rIns="0" bIns="0" rtlCol="0" anchor="ctr"/>
          <a:lstStyle/>
          <a:p>
            <a:pPr marL="0" indent="0" algn="r">
              <a:buNone/>
            </a:pPr>
            <a:r>
              <a:rPr lang="en-US" sz="1300" b="1" dirty="0">
                <a:solidFill>
                  <a:schemeClr val="accent2"/>
                </a:solidFill>
              </a:rPr>
              <a:t>G3</a:t>
            </a:r>
            <a:endParaRPr lang="en-US" sz="1300" dirty="0"/>
          </a:p>
        </p:txBody>
      </p:sp>
      <p:sp>
        <p:nvSpPr>
          <p:cNvPr id="21" name="Shape 18"/>
          <p:cNvSpPr/>
          <p:nvPr/>
        </p:nvSpPr>
        <p:spPr>
          <a:xfrm>
            <a:off x="5120640" y="3685032"/>
            <a:ext cx="3566160" cy="457200"/>
          </a:xfrm>
          <a:prstGeom prst="roundRect">
            <a:avLst>
              <a:gd name="adj" fmla="val 16000"/>
            </a:avLst>
          </a:prstGeom>
          <a:solidFill>
            <a:schemeClr val="bg2"/>
          </a:solidFill>
          <a:ln w="12700">
            <a:solidFill>
              <a:schemeClr val="bg2"/>
            </a:solidFill>
            <a:prstDash val="solid"/>
          </a:ln>
        </p:spPr>
        <p:txBody>
          <a:bodyPr/>
          <a:lstStyle/>
          <a:p>
            <a:endParaRPr lang="fr-FR"/>
          </a:p>
        </p:txBody>
      </p:sp>
      <p:sp>
        <p:nvSpPr>
          <p:cNvPr id="22" name="Text 19"/>
          <p:cNvSpPr txBox="1"/>
          <p:nvPr/>
        </p:nvSpPr>
        <p:spPr>
          <a:xfrm>
            <a:off x="5257800" y="3685032"/>
            <a:ext cx="548640" cy="457200"/>
          </a:xfrm>
          <a:prstGeom prst="rect">
            <a:avLst/>
          </a:prstGeom>
          <a:noFill/>
          <a:ln/>
        </p:spPr>
        <p:txBody>
          <a:bodyPr wrap="square" lIns="0" tIns="0" rIns="0" bIns="0" rtlCol="0" anchor="ctr"/>
          <a:lstStyle/>
          <a:p>
            <a:pPr marL="0" indent="0">
              <a:buNone/>
            </a:pPr>
            <a:r>
              <a:rPr lang="en-US" sz="1300" b="1" dirty="0">
                <a:solidFill>
                  <a:schemeClr val="tx2"/>
                </a:solidFill>
              </a:rPr>
              <a:t>SS5</a:t>
            </a:r>
            <a:endParaRPr lang="en-US" sz="1300" dirty="0"/>
          </a:p>
        </p:txBody>
      </p:sp>
      <p:sp>
        <p:nvSpPr>
          <p:cNvPr id="23" name="Text 20"/>
          <p:cNvSpPr txBox="1"/>
          <p:nvPr/>
        </p:nvSpPr>
        <p:spPr>
          <a:xfrm>
            <a:off x="5806440" y="3685032"/>
            <a:ext cx="2331720" cy="457200"/>
          </a:xfrm>
          <a:prstGeom prst="rect">
            <a:avLst/>
          </a:prstGeom>
          <a:noFill/>
          <a:ln/>
        </p:spPr>
        <p:txBody>
          <a:bodyPr wrap="square" lIns="0" tIns="0" rIns="0" bIns="0" rtlCol="0" anchor="ctr"/>
          <a:lstStyle/>
          <a:p>
            <a:pPr marL="0" indent="0">
              <a:buNone/>
            </a:pPr>
            <a:r>
              <a:rPr lang="en-US" sz="1200" dirty="0">
                <a:solidFill>
                  <a:schemeClr val="tx1"/>
                </a:solidFill>
              </a:rPr>
              <a:t>Direct : accès légitime au CRM</a:t>
            </a:r>
            <a:endParaRPr lang="en-US" sz="1200" dirty="0"/>
          </a:p>
        </p:txBody>
      </p:sp>
      <p:sp>
        <p:nvSpPr>
          <p:cNvPr id="24" name="Text 21"/>
          <p:cNvSpPr txBox="1"/>
          <p:nvPr/>
        </p:nvSpPr>
        <p:spPr>
          <a:xfrm>
            <a:off x="8138160" y="3685032"/>
            <a:ext cx="457200" cy="457200"/>
          </a:xfrm>
          <a:prstGeom prst="rect">
            <a:avLst/>
          </a:prstGeom>
          <a:noFill/>
          <a:ln/>
        </p:spPr>
        <p:txBody>
          <a:bodyPr wrap="square" lIns="0" tIns="0" rIns="0" bIns="0" rtlCol="0" anchor="ctr"/>
          <a:lstStyle/>
          <a:p>
            <a:pPr marL="0" indent="0" algn="r">
              <a:buNone/>
            </a:pPr>
            <a:r>
              <a:rPr lang="en-US" sz="1300" b="1" dirty="0">
                <a:solidFill>
                  <a:schemeClr val="accent2"/>
                </a:solidFill>
              </a:rPr>
              <a:t>G3</a:t>
            </a:r>
            <a:endParaRPr lang="en-US" sz="1300" dirty="0"/>
          </a:p>
        </p:txBody>
      </p:sp>
      <p:sp>
        <p:nvSpPr>
          <p:cNvPr id="25" name="Text 22"/>
          <p:cNvSpPr txBox="1"/>
          <p:nvPr/>
        </p:nvSpPr>
        <p:spPr>
          <a:xfrm>
            <a:off x="5120640" y="4297680"/>
            <a:ext cx="3566160" cy="274320"/>
          </a:xfrm>
          <a:prstGeom prst="rect">
            <a:avLst/>
          </a:prstGeom>
          <a:noFill/>
          <a:ln/>
        </p:spPr>
        <p:txBody>
          <a:bodyPr wrap="square" lIns="0" tIns="0" rIns="0" bIns="0" rtlCol="0" anchor="ctr"/>
          <a:lstStyle/>
          <a:p>
            <a:pPr marL="0" indent="0">
              <a:buNone/>
            </a:pPr>
            <a:r>
              <a:rPr lang="en-US" sz="1100" i="1" dirty="0">
                <a:solidFill>
                  <a:schemeClr val="accent5"/>
                </a:solidFill>
              </a:rPr>
              <a:t>2 chemins par un tiers, 3 directs</a:t>
            </a:r>
            <a:endParaRPr lang="en-US" sz="1100" dirty="0"/>
          </a:p>
        </p:txBody>
      </p:sp>
      <p:sp>
        <p:nvSpPr>
          <p:cNvPr id="26"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600" b="1" dirty="0">
                <a:solidFill>
                  <a:schemeClr val="tx2"/>
                </a:solidFill>
              </a:rPr>
              <a:t>L’infogérant est le maillon le plus exposé</a:t>
            </a:r>
            <a:endParaRPr lang="en-US" sz="2600" dirty="0"/>
          </a:p>
        </p:txBody>
      </p:sp>
      <p:pic>
        <p:nvPicPr>
          <p:cNvPr id="3" name="Image 0" descr="s_radar1.png"/>
          <p:cNvPicPr>
            <a:picLocks noChangeAspect="1"/>
          </p:cNvPicPr>
          <p:nvPr/>
        </p:nvPicPr>
        <p:blipFill>
          <a:blip r:embed="rId3"/>
          <a:stretch>
            <a:fillRect/>
          </a:stretch>
        </p:blipFill>
        <p:spPr>
          <a:xfrm>
            <a:off x="457200" y="914400"/>
            <a:ext cx="4846320" cy="3609596"/>
          </a:xfrm>
          <a:prstGeom prst="rect">
            <a:avLst/>
          </a:prstGeom>
        </p:spPr>
      </p:pic>
      <p:sp>
        <p:nvSpPr>
          <p:cNvPr id="4" name="Shape 1"/>
          <p:cNvSpPr/>
          <p:nvPr/>
        </p:nvSpPr>
        <p:spPr>
          <a:xfrm>
            <a:off x="5577840" y="1097280"/>
            <a:ext cx="3108960" cy="1325880"/>
          </a:xfrm>
          <a:prstGeom prst="roundRect">
            <a:avLst>
              <a:gd name="adj" fmla="val 5517"/>
            </a:avLst>
          </a:prstGeom>
          <a:solidFill>
            <a:schemeClr val="bg2"/>
          </a:solidFill>
          <a:ln w="12700">
            <a:solidFill>
              <a:schemeClr val="bg2"/>
            </a:solidFill>
            <a:prstDash val="solid"/>
          </a:ln>
        </p:spPr>
        <p:txBody>
          <a:bodyPr/>
          <a:lstStyle/>
          <a:p>
            <a:endParaRPr lang="fr-FR"/>
          </a:p>
        </p:txBody>
      </p:sp>
      <p:sp>
        <p:nvSpPr>
          <p:cNvPr id="5" name="Text 2"/>
          <p:cNvSpPr txBox="1"/>
          <p:nvPr/>
        </p:nvSpPr>
        <p:spPr>
          <a:xfrm>
            <a:off x="5577840" y="1188720"/>
            <a:ext cx="3108960" cy="640080"/>
          </a:xfrm>
          <a:prstGeom prst="rect">
            <a:avLst/>
          </a:prstGeom>
          <a:noFill/>
          <a:ln/>
        </p:spPr>
        <p:txBody>
          <a:bodyPr wrap="square" lIns="0" tIns="0" rIns="0" bIns="0" rtlCol="0" anchor="ctr"/>
          <a:lstStyle/>
          <a:p>
            <a:pPr marL="0" indent="0" algn="ctr">
              <a:buNone/>
            </a:pPr>
            <a:r>
              <a:rPr lang="en-US" sz="3000" b="1" dirty="0">
                <a:solidFill>
                  <a:schemeClr val="accent1"/>
                </a:solidFill>
                <a:latin typeface="Cambria" pitchFamily="34" charset="0"/>
                <a:ea typeface="Cambria" pitchFamily="34" charset="-122"/>
                <a:cs typeface="Cambria" pitchFamily="34" charset="-120"/>
              </a:rPr>
              <a:t>4,00 → 1,78</a:t>
            </a:r>
            <a:endParaRPr lang="en-US" sz="3000" dirty="0"/>
          </a:p>
        </p:txBody>
      </p:sp>
      <p:sp>
        <p:nvSpPr>
          <p:cNvPr id="6" name="Text 3"/>
          <p:cNvSpPr txBox="1"/>
          <p:nvPr/>
        </p:nvSpPr>
        <p:spPr>
          <a:xfrm>
            <a:off x="5669280" y="1828800"/>
            <a:ext cx="2926080" cy="457200"/>
          </a:xfrm>
          <a:prstGeom prst="rect">
            <a:avLst/>
          </a:prstGeom>
          <a:noFill/>
          <a:ln/>
        </p:spPr>
        <p:txBody>
          <a:bodyPr wrap="square" lIns="0" tIns="0" rIns="0" bIns="0" rtlCol="0" anchor="ctr"/>
          <a:lstStyle/>
          <a:p>
            <a:pPr marL="0" indent="0" algn="ctr">
              <a:buNone/>
            </a:pPr>
            <a:r>
              <a:rPr lang="en-US" sz="1200" dirty="0">
                <a:solidFill>
                  <a:schemeClr val="tx1"/>
                </a:solidFill>
              </a:rPr>
              <a:t>indice de l’infogérant, avant / après mesures</a:t>
            </a:r>
            <a:endParaRPr lang="en-US" sz="1200" dirty="0"/>
          </a:p>
        </p:txBody>
      </p:sp>
      <p:sp>
        <p:nvSpPr>
          <p:cNvPr id="7" name="Text 4"/>
          <p:cNvSpPr txBox="1"/>
          <p:nvPr/>
        </p:nvSpPr>
        <p:spPr>
          <a:xfrm>
            <a:off x="5577840" y="2606040"/>
            <a:ext cx="3108960" cy="2103120"/>
          </a:xfrm>
          <a:prstGeom prst="rect">
            <a:avLst/>
          </a:prstGeom>
          <a:noFill/>
          <a:ln/>
        </p:spPr>
        <p:txBody>
          <a:bodyPr wrap="square" lIns="0" tIns="0" rIns="0" bIns="0" rtlCol="0" anchor="t"/>
          <a:lstStyle/>
          <a:p>
            <a:pPr marL="0" indent="0">
              <a:buNone/>
            </a:pPr>
            <a:r>
              <a:rPr lang="en-US" sz="1300" b="1" dirty="0">
                <a:solidFill>
                  <a:schemeClr val="tx2"/>
                </a:solidFill>
              </a:rPr>
              <a:t>Pourquoi en zone danger</a:t>
            </a:r>
            <a:endParaRPr lang="en-US" sz="1300" dirty="0"/>
          </a:p>
          <a:p>
            <a:pPr marL="342900" indent="-342900">
              <a:buSzPct val="100000"/>
              <a:buChar char="•"/>
            </a:pPr>
            <a:r>
              <a:rPr lang="en-US" sz="1300" dirty="0">
                <a:solidFill>
                  <a:schemeClr val="tx1"/>
                </a:solidFill>
              </a:rPr>
              <a:t>Admin sans MFA (H04)</a:t>
            </a:r>
            <a:endParaRPr lang="en-US" sz="1300" dirty="0"/>
          </a:p>
          <a:p>
            <a:pPr marL="342900" indent="-342900">
              <a:buSzPct val="100000"/>
              <a:buChar char="•"/>
            </a:pPr>
            <a:r>
              <a:rPr lang="en-US" sz="1300" dirty="0">
                <a:solidFill>
                  <a:schemeClr val="tx1"/>
                </a:solidFill>
              </a:rPr>
              <a:t>Compte partagé (H05)</a:t>
            </a:r>
            <a:endParaRPr lang="en-US" sz="1300" dirty="0"/>
          </a:p>
          <a:p>
            <a:pPr marL="342900" indent="-342900">
              <a:spcAft>
                <a:spcPts val="800"/>
              </a:spcAft>
              <a:buSzPct val="100000"/>
              <a:buChar char="•"/>
            </a:pPr>
            <a:r>
              <a:rPr lang="en-US" sz="1300" dirty="0">
                <a:solidFill>
                  <a:schemeClr val="tx1"/>
                </a:solidFill>
              </a:rPr>
              <a:t>Contrat sans clause de sécurité (H13)</a:t>
            </a:r>
            <a:endParaRPr lang="en-US" sz="1300" dirty="0"/>
          </a:p>
          <a:p>
            <a:pPr marL="0" indent="0">
              <a:buNone/>
            </a:pPr>
            <a:r>
              <a:rPr lang="en-US" sz="1300" b="1" dirty="0">
                <a:solidFill>
                  <a:schemeClr val="tx2"/>
                </a:solidFill>
              </a:rPr>
              <a:t>Autres effets</a:t>
            </a:r>
            <a:endParaRPr lang="en-US" sz="1300" dirty="0"/>
          </a:p>
          <a:p>
            <a:pPr marL="342900" indent="-342900">
              <a:buSzPct val="100000"/>
              <a:buChar char="•"/>
            </a:pPr>
            <a:r>
              <a:rPr lang="en-US" sz="1300" dirty="0">
                <a:solidFill>
                  <a:schemeClr val="tx1"/>
                </a:solidFill>
              </a:rPr>
              <a:t>Éditeur : 1,33 → 1,00, reste en contrôle</a:t>
            </a:r>
            <a:endParaRPr lang="en-US" sz="1300" dirty="0"/>
          </a:p>
          <a:p>
            <a:pPr marL="342900" indent="-342900">
              <a:buSzPct val="100000"/>
              <a:buChar char="•"/>
            </a:pPr>
            <a:r>
              <a:rPr lang="en-US" sz="1300" dirty="0">
                <a:solidFill>
                  <a:schemeClr val="tx1"/>
                </a:solidFill>
              </a:rPr>
              <a:t>Hébergeur : 1,33 si qualification confirmée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600" b="1" dirty="0">
                <a:solidFill>
                  <a:schemeClr val="tx2"/>
                </a:solidFill>
              </a:rPr>
              <a:t>Le scénario principal est très vraisemblable</a:t>
            </a:r>
            <a:endParaRPr lang="en-US" sz="2600" dirty="0"/>
          </a:p>
        </p:txBody>
      </p:sp>
      <p:pic>
        <p:nvPicPr>
          <p:cNvPr id="3" name="Image 0" descr="s_so1.png"/>
          <p:cNvPicPr>
            <a:picLocks noChangeAspect="1"/>
          </p:cNvPicPr>
          <p:nvPr/>
        </p:nvPicPr>
        <p:blipFill>
          <a:blip r:embed="rId3"/>
          <a:stretch>
            <a:fillRect/>
          </a:stretch>
        </p:blipFill>
        <p:spPr>
          <a:xfrm>
            <a:off x="640406" y="960120"/>
            <a:ext cx="7863189" cy="3063240"/>
          </a:xfrm>
          <a:prstGeom prst="rect">
            <a:avLst/>
          </a:prstGeom>
        </p:spPr>
      </p:pic>
      <p:sp>
        <p:nvSpPr>
          <p:cNvPr id="4" name="Shape 1"/>
          <p:cNvSpPr/>
          <p:nvPr/>
        </p:nvSpPr>
        <p:spPr>
          <a:xfrm>
            <a:off x="457200" y="4114800"/>
            <a:ext cx="2606040" cy="594360"/>
          </a:xfrm>
          <a:prstGeom prst="roundRect">
            <a:avLst>
              <a:gd name="adj" fmla="val 12308"/>
            </a:avLst>
          </a:prstGeom>
          <a:solidFill>
            <a:schemeClr val="bg2"/>
          </a:solidFill>
          <a:ln w="12700">
            <a:solidFill>
              <a:schemeClr val="bg2"/>
            </a:solidFill>
            <a:prstDash val="solid"/>
          </a:ln>
        </p:spPr>
        <p:txBody>
          <a:bodyPr/>
          <a:lstStyle/>
          <a:p>
            <a:endParaRPr lang="fr-FR"/>
          </a:p>
        </p:txBody>
      </p:sp>
      <p:sp>
        <p:nvSpPr>
          <p:cNvPr id="5" name="Text 2"/>
          <p:cNvSpPr txBox="1"/>
          <p:nvPr/>
        </p:nvSpPr>
        <p:spPr>
          <a:xfrm>
            <a:off x="594360" y="4133088"/>
            <a:ext cx="777240" cy="548640"/>
          </a:xfrm>
          <a:prstGeom prst="rect">
            <a:avLst/>
          </a:prstGeom>
          <a:noFill/>
          <a:ln/>
        </p:spPr>
        <p:txBody>
          <a:bodyPr wrap="square" lIns="0" tIns="0" rIns="0" bIns="0" rtlCol="0" anchor="ctr"/>
          <a:lstStyle/>
          <a:p>
            <a:pPr marL="0" indent="0">
              <a:buNone/>
            </a:pPr>
            <a:r>
              <a:rPr lang="en-US" sz="1600" b="1" dirty="0">
                <a:solidFill>
                  <a:schemeClr val="tx2"/>
                </a:solidFill>
              </a:rPr>
              <a:t>V3</a:t>
            </a:r>
            <a:endParaRPr lang="en-US" sz="1600" dirty="0"/>
          </a:p>
        </p:txBody>
      </p:sp>
      <p:sp>
        <p:nvSpPr>
          <p:cNvPr id="6" name="Text 3"/>
          <p:cNvSpPr txBox="1"/>
          <p:nvPr/>
        </p:nvSpPr>
        <p:spPr>
          <a:xfrm>
            <a:off x="1371600" y="4133088"/>
            <a:ext cx="1600200" cy="548640"/>
          </a:xfrm>
          <a:prstGeom prst="rect">
            <a:avLst/>
          </a:prstGeom>
          <a:noFill/>
          <a:ln/>
        </p:spPr>
        <p:txBody>
          <a:bodyPr wrap="square" lIns="0" tIns="0" rIns="0" bIns="0" rtlCol="0" anchor="ctr"/>
          <a:lstStyle/>
          <a:p>
            <a:pPr marL="0" indent="0">
              <a:buNone/>
            </a:pPr>
            <a:r>
              <a:rPr lang="en-US" sz="1200" dirty="0">
                <a:solidFill>
                  <a:schemeClr val="tx1"/>
                </a:solidFill>
              </a:rPr>
              <a:t>Très vraisemblable (méthode expresse)</a:t>
            </a:r>
            <a:endParaRPr lang="en-US" sz="1200" dirty="0"/>
          </a:p>
        </p:txBody>
      </p:sp>
      <p:sp>
        <p:nvSpPr>
          <p:cNvPr id="7" name="Shape 4"/>
          <p:cNvSpPr/>
          <p:nvPr/>
        </p:nvSpPr>
        <p:spPr>
          <a:xfrm>
            <a:off x="3246120" y="4114800"/>
            <a:ext cx="2606040" cy="594360"/>
          </a:xfrm>
          <a:prstGeom prst="roundRect">
            <a:avLst>
              <a:gd name="adj" fmla="val 12308"/>
            </a:avLst>
          </a:prstGeom>
          <a:solidFill>
            <a:schemeClr val="bg2"/>
          </a:solidFill>
          <a:ln w="12700">
            <a:solidFill>
              <a:schemeClr val="bg2"/>
            </a:solidFill>
            <a:prstDash val="solid"/>
          </a:ln>
        </p:spPr>
        <p:txBody>
          <a:bodyPr/>
          <a:lstStyle/>
          <a:p>
            <a:endParaRPr lang="fr-FR"/>
          </a:p>
        </p:txBody>
      </p:sp>
      <p:sp>
        <p:nvSpPr>
          <p:cNvPr id="8" name="Text 5"/>
          <p:cNvSpPr txBox="1"/>
          <p:nvPr/>
        </p:nvSpPr>
        <p:spPr>
          <a:xfrm>
            <a:off x="3383280" y="4133088"/>
            <a:ext cx="777240" cy="548640"/>
          </a:xfrm>
          <a:prstGeom prst="rect">
            <a:avLst/>
          </a:prstGeom>
          <a:noFill/>
          <a:ln/>
        </p:spPr>
        <p:txBody>
          <a:bodyPr wrap="square" lIns="0" tIns="0" rIns="0" bIns="0" rtlCol="0" anchor="ctr"/>
          <a:lstStyle/>
          <a:p>
            <a:pPr marL="0" indent="0">
              <a:buNone/>
            </a:pPr>
            <a:r>
              <a:rPr lang="en-US" sz="1600" b="1" dirty="0">
                <a:solidFill>
                  <a:schemeClr val="tx2"/>
                </a:solidFill>
              </a:rPr>
              <a:t>GAP</a:t>
            </a:r>
            <a:endParaRPr lang="en-US" sz="1600" dirty="0"/>
          </a:p>
        </p:txBody>
      </p:sp>
      <p:sp>
        <p:nvSpPr>
          <p:cNvPr id="9" name="Text 6"/>
          <p:cNvSpPr txBox="1"/>
          <p:nvPr/>
        </p:nvSpPr>
        <p:spPr>
          <a:xfrm>
            <a:off x="4160520" y="4133088"/>
            <a:ext cx="1600200" cy="548640"/>
          </a:xfrm>
          <a:prstGeom prst="rect">
            <a:avLst/>
          </a:prstGeom>
          <a:noFill/>
          <a:ln/>
        </p:spPr>
        <p:txBody>
          <a:bodyPr wrap="square" lIns="0" tIns="0" rIns="0" bIns="0" rtlCol="0" anchor="ctr"/>
          <a:lstStyle/>
          <a:p>
            <a:pPr marL="0" indent="0">
              <a:buNone/>
            </a:pPr>
            <a:r>
              <a:rPr lang="en-US" sz="1200" dirty="0">
                <a:solidFill>
                  <a:schemeClr val="tx1"/>
                </a:solidFill>
              </a:rPr>
              <a:t>Écarts supposés : MFA, compte partagé, supervision</a:t>
            </a:r>
            <a:endParaRPr lang="en-US" sz="1200" dirty="0"/>
          </a:p>
        </p:txBody>
      </p:sp>
      <p:sp>
        <p:nvSpPr>
          <p:cNvPr id="10" name="Shape 7"/>
          <p:cNvSpPr/>
          <p:nvPr/>
        </p:nvSpPr>
        <p:spPr>
          <a:xfrm>
            <a:off x="6035040" y="4114800"/>
            <a:ext cx="2606040" cy="594360"/>
          </a:xfrm>
          <a:prstGeom prst="roundRect">
            <a:avLst>
              <a:gd name="adj" fmla="val 12308"/>
            </a:avLst>
          </a:prstGeom>
          <a:solidFill>
            <a:schemeClr val="bg2"/>
          </a:solidFill>
          <a:ln w="12700">
            <a:solidFill>
              <a:schemeClr val="bg2"/>
            </a:solidFill>
            <a:prstDash val="solid"/>
          </a:ln>
        </p:spPr>
        <p:txBody>
          <a:bodyPr/>
          <a:lstStyle/>
          <a:p>
            <a:endParaRPr lang="fr-FR"/>
          </a:p>
        </p:txBody>
      </p:sp>
      <p:sp>
        <p:nvSpPr>
          <p:cNvPr id="11" name="Text 8"/>
          <p:cNvSpPr txBox="1"/>
          <p:nvPr/>
        </p:nvSpPr>
        <p:spPr>
          <a:xfrm>
            <a:off x="6172200" y="4133088"/>
            <a:ext cx="777240" cy="548640"/>
          </a:xfrm>
          <a:prstGeom prst="rect">
            <a:avLst/>
          </a:prstGeom>
          <a:noFill/>
          <a:ln/>
        </p:spPr>
        <p:txBody>
          <a:bodyPr wrap="square" lIns="0" tIns="0" rIns="0" bIns="0" rtlCol="0" anchor="ctr"/>
          <a:lstStyle/>
          <a:p>
            <a:pPr marL="0" indent="0">
              <a:buNone/>
            </a:pPr>
            <a:r>
              <a:rPr lang="en-US" sz="1600" b="1" dirty="0">
                <a:solidFill>
                  <a:schemeClr val="tx2"/>
                </a:solidFill>
              </a:rPr>
              <a:t>5 SO</a:t>
            </a:r>
            <a:endParaRPr lang="en-US" sz="1600" dirty="0"/>
          </a:p>
        </p:txBody>
      </p:sp>
      <p:sp>
        <p:nvSpPr>
          <p:cNvPr id="12" name="Text 9"/>
          <p:cNvSpPr txBox="1"/>
          <p:nvPr/>
        </p:nvSpPr>
        <p:spPr>
          <a:xfrm>
            <a:off x="6949440" y="4133088"/>
            <a:ext cx="1600200" cy="548640"/>
          </a:xfrm>
          <a:prstGeom prst="rect">
            <a:avLst/>
          </a:prstGeom>
          <a:noFill/>
          <a:ln/>
        </p:spPr>
        <p:txBody>
          <a:bodyPr wrap="square" lIns="0" tIns="0" rIns="0" bIns="0" rtlCol="0" anchor="ctr"/>
          <a:lstStyle/>
          <a:p>
            <a:pPr marL="0" indent="0">
              <a:buNone/>
            </a:pPr>
            <a:r>
              <a:rPr lang="en-US" sz="1200" dirty="0">
                <a:solidFill>
                  <a:schemeClr val="tx1"/>
                </a:solidFill>
              </a:rPr>
              <a:t>4 scénarios en V3, 1 en V2</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600" b="1" dirty="0">
                <a:solidFill>
                  <a:schemeClr val="tx2"/>
                </a:solidFill>
              </a:rPr>
              <a:t>Deux risques élevés, ramenés à modérés par le plan</a:t>
            </a:r>
            <a:endParaRPr lang="en-US" sz="2600" dirty="0"/>
          </a:p>
        </p:txBody>
      </p:sp>
      <p:pic>
        <p:nvPicPr>
          <p:cNvPr id="3" name="Image 0" descr="s_carto.png"/>
          <p:cNvPicPr>
            <a:picLocks noChangeAspect="1"/>
          </p:cNvPicPr>
          <p:nvPr/>
        </p:nvPicPr>
        <p:blipFill>
          <a:blip r:embed="rId3"/>
          <a:stretch>
            <a:fillRect/>
          </a:stretch>
        </p:blipFill>
        <p:spPr>
          <a:xfrm>
            <a:off x="365760" y="1005840"/>
            <a:ext cx="6400800" cy="3094932"/>
          </a:xfrm>
          <a:prstGeom prst="rect">
            <a:avLst/>
          </a:prstGeom>
        </p:spPr>
      </p:pic>
      <p:sp>
        <p:nvSpPr>
          <p:cNvPr id="4" name="Text 1"/>
          <p:cNvSpPr txBox="1"/>
          <p:nvPr/>
        </p:nvSpPr>
        <p:spPr>
          <a:xfrm>
            <a:off x="6949440" y="1143000"/>
            <a:ext cx="1737360" cy="2377440"/>
          </a:xfrm>
          <a:prstGeom prst="rect">
            <a:avLst/>
          </a:prstGeom>
          <a:noFill/>
          <a:ln/>
        </p:spPr>
        <p:txBody>
          <a:bodyPr wrap="square" lIns="0" tIns="0" rIns="0" bIns="0" rtlCol="0" anchor="t"/>
          <a:lstStyle/>
          <a:p>
            <a:pPr marL="0" indent="0">
              <a:buNone/>
            </a:pPr>
            <a:r>
              <a:rPr lang="en-US" sz="1300" b="1" dirty="0">
                <a:solidFill>
                  <a:schemeClr val="accent1"/>
                </a:solidFill>
              </a:rPr>
              <a:t>R1, R3</a:t>
            </a:r>
            <a:endParaRPr lang="en-US" sz="1300" dirty="0"/>
          </a:p>
          <a:p>
            <a:pPr marL="0" indent="0">
              <a:spcAft>
                <a:spcPts val="600"/>
              </a:spcAft>
              <a:buNone/>
            </a:pPr>
            <a:r>
              <a:rPr lang="en-US" sz="1300" dirty="0">
                <a:solidFill>
                  <a:schemeClr val="tx1"/>
                </a:solidFill>
              </a:rPr>
              <a:t>Élevé → modéré</a:t>
            </a:r>
            <a:endParaRPr lang="en-US" sz="1300" dirty="0"/>
          </a:p>
          <a:p>
            <a:pPr marL="0" indent="0">
              <a:buNone/>
            </a:pPr>
            <a:r>
              <a:rPr lang="en-US" sz="1300" b="1" dirty="0">
                <a:solidFill>
                  <a:schemeClr val="accent2"/>
                </a:solidFill>
              </a:rPr>
              <a:t>R2</a:t>
            </a:r>
            <a:endParaRPr lang="en-US" sz="1300" dirty="0"/>
          </a:p>
          <a:p>
            <a:pPr marL="0" indent="0">
              <a:spcAft>
                <a:spcPts val="600"/>
              </a:spcAft>
              <a:buNone/>
            </a:pPr>
            <a:r>
              <a:rPr lang="en-US" sz="1300" dirty="0">
                <a:solidFill>
                  <a:schemeClr val="tx1"/>
                </a:solidFill>
              </a:rPr>
              <a:t>Modéré → significatif</a:t>
            </a:r>
            <a:endParaRPr lang="en-US" sz="1300" dirty="0"/>
          </a:p>
          <a:p>
            <a:pPr marL="0" indent="0">
              <a:buNone/>
            </a:pPr>
            <a:r>
              <a:rPr lang="en-US" sz="1300" b="1" dirty="0">
                <a:solidFill>
                  <a:schemeClr val="accent2"/>
                </a:solidFill>
              </a:rPr>
              <a:t>R4, R5</a:t>
            </a:r>
            <a:endParaRPr lang="en-US" sz="1300" dirty="0"/>
          </a:p>
          <a:p>
            <a:pPr marL="0" indent="0">
              <a:buNone/>
            </a:pPr>
            <a:r>
              <a:rPr lang="en-US" sz="1300" dirty="0">
                <a:solidFill>
                  <a:schemeClr val="tx1"/>
                </a:solidFill>
              </a:rPr>
              <a:t>Restent modérés, à accepter</a:t>
            </a:r>
            <a:endParaRPr lang="en-US" sz="1300" dirty="0"/>
          </a:p>
        </p:txBody>
      </p:sp>
      <p:sp>
        <p:nvSpPr>
          <p:cNvPr id="5" name="Text 2"/>
          <p:cNvSpPr txBox="1"/>
          <p:nvPr/>
        </p:nvSpPr>
        <p:spPr>
          <a:xfrm>
            <a:off x="6949440" y="3657600"/>
            <a:ext cx="1737360" cy="640080"/>
          </a:xfrm>
          <a:prstGeom prst="rect">
            <a:avLst/>
          </a:prstGeom>
          <a:noFill/>
          <a:ln/>
        </p:spPr>
        <p:txBody>
          <a:bodyPr wrap="square" lIns="0" tIns="0" rIns="0" bIns="0" rtlCol="0" anchor="t"/>
          <a:lstStyle/>
          <a:p>
            <a:pPr marL="0" indent="0">
              <a:buNone/>
            </a:pPr>
            <a:r>
              <a:rPr lang="en-US" sz="1100" i="1" dirty="0">
                <a:solidFill>
                  <a:schemeClr val="accent5"/>
                </a:solidFill>
              </a:rPr>
              <a:t>Échelle : Élevé &gt; Modéré &gt; Significatif &gt; Faible</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600" b="1" dirty="0">
                <a:solidFill>
                  <a:schemeClr val="tx2"/>
                </a:solidFill>
              </a:rPr>
              <a:t>Neuf actions prioritaires d’ici avril 2027</a:t>
            </a:r>
            <a:endParaRPr lang="en-US" sz="2600" dirty="0"/>
          </a:p>
        </p:txBody>
      </p:sp>
      <p:sp>
        <p:nvSpPr>
          <p:cNvPr id="3" name="Text 1"/>
          <p:cNvSpPr txBox="1"/>
          <p:nvPr/>
        </p:nvSpPr>
        <p:spPr>
          <a:xfrm>
            <a:off x="457200" y="960120"/>
            <a:ext cx="914400" cy="228600"/>
          </a:xfrm>
          <a:prstGeom prst="rect">
            <a:avLst/>
          </a:prstGeom>
          <a:noFill/>
          <a:ln/>
        </p:spPr>
        <p:txBody>
          <a:bodyPr wrap="square" lIns="0" tIns="0" rIns="0" bIns="0" rtlCol="0" anchor="ctr"/>
          <a:lstStyle/>
          <a:p>
            <a:pPr marL="0" indent="0">
              <a:buNone/>
            </a:pPr>
            <a:r>
              <a:rPr lang="en-US" sz="1000" b="1" dirty="0">
                <a:solidFill>
                  <a:schemeClr val="accent5"/>
                </a:solidFill>
              </a:rPr>
              <a:t>Échéance</a:t>
            </a:r>
            <a:endParaRPr lang="en-US" sz="1000" dirty="0"/>
          </a:p>
        </p:txBody>
      </p:sp>
      <p:sp>
        <p:nvSpPr>
          <p:cNvPr id="4" name="Text 2"/>
          <p:cNvSpPr txBox="1"/>
          <p:nvPr/>
        </p:nvSpPr>
        <p:spPr>
          <a:xfrm>
            <a:off x="1600200" y="960120"/>
            <a:ext cx="2743200" cy="228600"/>
          </a:xfrm>
          <a:prstGeom prst="rect">
            <a:avLst/>
          </a:prstGeom>
          <a:noFill/>
          <a:ln/>
        </p:spPr>
        <p:txBody>
          <a:bodyPr wrap="square" lIns="0" tIns="0" rIns="0" bIns="0" rtlCol="0" anchor="ctr"/>
          <a:lstStyle/>
          <a:p>
            <a:pPr marL="0" indent="0">
              <a:buNone/>
            </a:pPr>
            <a:r>
              <a:rPr lang="en-US" sz="1000" b="1" dirty="0">
                <a:solidFill>
                  <a:schemeClr val="accent5"/>
                </a:solidFill>
              </a:rPr>
              <a:t>Action</a:t>
            </a:r>
            <a:endParaRPr lang="en-US" sz="1000" dirty="0"/>
          </a:p>
        </p:txBody>
      </p:sp>
      <p:sp>
        <p:nvSpPr>
          <p:cNvPr id="5" name="Text 3"/>
          <p:cNvSpPr txBox="1"/>
          <p:nvPr/>
        </p:nvSpPr>
        <p:spPr>
          <a:xfrm>
            <a:off x="4343400" y="960120"/>
            <a:ext cx="914400" cy="228600"/>
          </a:xfrm>
          <a:prstGeom prst="rect">
            <a:avLst/>
          </a:prstGeom>
          <a:noFill/>
          <a:ln/>
        </p:spPr>
        <p:txBody>
          <a:bodyPr wrap="square" lIns="0" tIns="0" rIns="0" bIns="0" rtlCol="0" anchor="ctr"/>
          <a:lstStyle/>
          <a:p>
            <a:pPr marL="0" indent="0">
              <a:buNone/>
            </a:pPr>
            <a:r>
              <a:rPr lang="en-US" sz="1000" b="1" dirty="0">
                <a:solidFill>
                  <a:schemeClr val="accent5"/>
                </a:solidFill>
              </a:rPr>
              <a:t>Responsable</a:t>
            </a:r>
            <a:endParaRPr lang="en-US" sz="1000" dirty="0"/>
          </a:p>
        </p:txBody>
      </p:sp>
      <p:sp>
        <p:nvSpPr>
          <p:cNvPr id="6" name="Text 4"/>
          <p:cNvSpPr txBox="1"/>
          <p:nvPr/>
        </p:nvSpPr>
        <p:spPr>
          <a:xfrm>
            <a:off x="5257800" y="960120"/>
            <a:ext cx="1051560" cy="228600"/>
          </a:xfrm>
          <a:prstGeom prst="rect">
            <a:avLst/>
          </a:prstGeom>
          <a:noFill/>
          <a:ln/>
        </p:spPr>
        <p:txBody>
          <a:bodyPr wrap="square" lIns="0" tIns="0" rIns="0" bIns="0" rtlCol="0" anchor="ctr"/>
          <a:lstStyle/>
          <a:p>
            <a:pPr marL="0" indent="0" algn="r">
              <a:buNone/>
            </a:pPr>
            <a:r>
              <a:rPr lang="en-US" sz="1000" b="1" dirty="0">
                <a:solidFill>
                  <a:schemeClr val="accent5"/>
                </a:solidFill>
              </a:rPr>
              <a:t>Coût [H]</a:t>
            </a:r>
            <a:endParaRPr lang="en-US" sz="1000" dirty="0"/>
          </a:p>
        </p:txBody>
      </p:sp>
      <p:sp>
        <p:nvSpPr>
          <p:cNvPr id="7" name="Text 5"/>
          <p:cNvSpPr txBox="1"/>
          <p:nvPr/>
        </p:nvSpPr>
        <p:spPr>
          <a:xfrm>
            <a:off x="457200" y="1234440"/>
            <a:ext cx="1005840" cy="292608"/>
          </a:xfrm>
          <a:prstGeom prst="rect">
            <a:avLst/>
          </a:prstGeom>
          <a:noFill/>
          <a:ln/>
        </p:spPr>
        <p:txBody>
          <a:bodyPr wrap="square" lIns="0" tIns="0" rIns="0" bIns="0" rtlCol="0" anchor="ctr"/>
          <a:lstStyle/>
          <a:p>
            <a:pPr marL="0" indent="0">
              <a:buNone/>
            </a:pPr>
            <a:r>
              <a:rPr lang="en-US" sz="1200" b="1" dirty="0">
                <a:solidFill>
                  <a:schemeClr val="tx2"/>
                </a:solidFill>
              </a:rPr>
              <a:t>Nov. 2026</a:t>
            </a:r>
            <a:endParaRPr lang="en-US" sz="1200" dirty="0"/>
          </a:p>
        </p:txBody>
      </p:sp>
      <p:sp>
        <p:nvSpPr>
          <p:cNvPr id="8" name="Shape 6"/>
          <p:cNvSpPr/>
          <p:nvPr/>
        </p:nvSpPr>
        <p:spPr>
          <a:xfrm>
            <a:off x="1463040" y="1234440"/>
            <a:ext cx="4937760" cy="292608"/>
          </a:xfrm>
          <a:prstGeom prst="roundRect">
            <a:avLst>
              <a:gd name="adj" fmla="val 25000"/>
            </a:avLst>
          </a:prstGeom>
          <a:solidFill>
            <a:schemeClr val="bg2"/>
          </a:solidFill>
          <a:ln w="12700">
            <a:solidFill>
              <a:schemeClr val="bg2"/>
            </a:solidFill>
            <a:prstDash val="solid"/>
          </a:ln>
        </p:spPr>
        <p:txBody>
          <a:bodyPr/>
          <a:lstStyle/>
          <a:p>
            <a:endParaRPr lang="fr-FR"/>
          </a:p>
        </p:txBody>
      </p:sp>
      <p:sp>
        <p:nvSpPr>
          <p:cNvPr id="9" name="Text 7"/>
          <p:cNvSpPr txBox="1"/>
          <p:nvPr/>
        </p:nvSpPr>
        <p:spPr>
          <a:xfrm>
            <a:off x="1600200" y="1234440"/>
            <a:ext cx="2743200" cy="292608"/>
          </a:xfrm>
          <a:prstGeom prst="rect">
            <a:avLst/>
          </a:prstGeom>
          <a:noFill/>
          <a:ln/>
        </p:spPr>
        <p:txBody>
          <a:bodyPr wrap="square" lIns="0" tIns="0" rIns="0" bIns="0" rtlCol="0" anchor="ctr"/>
          <a:lstStyle/>
          <a:p>
            <a:pPr marL="0" indent="0">
              <a:buNone/>
            </a:pPr>
            <a:r>
              <a:rPr lang="en-US" sz="1200" dirty="0">
                <a:solidFill>
                  <a:schemeClr val="tx1"/>
                </a:solidFill>
              </a:rPr>
              <a:t>Courrier aux grands comptes sur les RIB</a:t>
            </a:r>
            <a:endParaRPr lang="en-US" sz="1200" dirty="0"/>
          </a:p>
        </p:txBody>
      </p:sp>
      <p:sp>
        <p:nvSpPr>
          <p:cNvPr id="10" name="Text 8"/>
          <p:cNvSpPr txBox="1"/>
          <p:nvPr/>
        </p:nvSpPr>
        <p:spPr>
          <a:xfrm>
            <a:off x="4343400" y="1234440"/>
            <a:ext cx="914400" cy="292608"/>
          </a:xfrm>
          <a:prstGeom prst="rect">
            <a:avLst/>
          </a:prstGeom>
          <a:noFill/>
          <a:ln/>
        </p:spPr>
        <p:txBody>
          <a:bodyPr wrap="square" lIns="0" tIns="0" rIns="0" bIns="0" rtlCol="0" anchor="ctr"/>
          <a:lstStyle/>
          <a:p>
            <a:pPr marL="0" indent="0">
              <a:buNone/>
            </a:pPr>
            <a:r>
              <a:rPr lang="en-US" sz="1100" dirty="0">
                <a:solidFill>
                  <a:schemeClr val="tx2"/>
                </a:solidFill>
              </a:rPr>
              <a:t>T. Weber</a:t>
            </a:r>
            <a:endParaRPr lang="en-US" sz="1100" dirty="0"/>
          </a:p>
        </p:txBody>
      </p:sp>
      <p:sp>
        <p:nvSpPr>
          <p:cNvPr id="11" name="Text 9"/>
          <p:cNvSpPr txBox="1"/>
          <p:nvPr/>
        </p:nvSpPr>
        <p:spPr>
          <a:xfrm>
            <a:off x="5257800" y="1234440"/>
            <a:ext cx="1051560" cy="292608"/>
          </a:xfrm>
          <a:prstGeom prst="rect">
            <a:avLst/>
          </a:prstGeom>
          <a:noFill/>
          <a:ln/>
        </p:spPr>
        <p:txBody>
          <a:bodyPr wrap="square" lIns="0" tIns="0" rIns="0" bIns="0" rtlCol="0" anchor="ctr"/>
          <a:lstStyle/>
          <a:p>
            <a:pPr marL="0" indent="0" algn="r">
              <a:buNone/>
            </a:pPr>
            <a:r>
              <a:rPr lang="en-US" sz="1100" dirty="0">
                <a:solidFill>
                  <a:schemeClr val="accent5"/>
                </a:solidFill>
              </a:rPr>
              <a:t>0 €</a:t>
            </a:r>
            <a:endParaRPr lang="en-US" sz="1100" dirty="0"/>
          </a:p>
        </p:txBody>
      </p:sp>
      <p:sp>
        <p:nvSpPr>
          <p:cNvPr id="12" name="Text 10"/>
          <p:cNvSpPr txBox="1"/>
          <p:nvPr/>
        </p:nvSpPr>
        <p:spPr>
          <a:xfrm>
            <a:off x="457200" y="1572768"/>
            <a:ext cx="1005840" cy="292608"/>
          </a:xfrm>
          <a:prstGeom prst="rect">
            <a:avLst/>
          </a:prstGeom>
          <a:noFill/>
          <a:ln/>
        </p:spPr>
        <p:txBody>
          <a:bodyPr wrap="square" lIns="0" tIns="0" rIns="0" bIns="0" rtlCol="0" anchor="ctr"/>
          <a:lstStyle/>
          <a:p>
            <a:pPr marL="0" indent="0">
              <a:buNone/>
            </a:pPr>
            <a:r>
              <a:rPr lang="en-US" sz="1200" b="1" dirty="0">
                <a:solidFill>
                  <a:schemeClr val="tx2"/>
                </a:solidFill>
              </a:rPr>
              <a:t>Nov. 2026</a:t>
            </a:r>
            <a:endParaRPr lang="en-US" sz="1200" dirty="0"/>
          </a:p>
        </p:txBody>
      </p:sp>
      <p:sp>
        <p:nvSpPr>
          <p:cNvPr id="13" name="Shape 11"/>
          <p:cNvSpPr/>
          <p:nvPr/>
        </p:nvSpPr>
        <p:spPr>
          <a:xfrm>
            <a:off x="1463040" y="1572768"/>
            <a:ext cx="4937760" cy="292608"/>
          </a:xfrm>
          <a:prstGeom prst="roundRect">
            <a:avLst>
              <a:gd name="adj" fmla="val 25000"/>
            </a:avLst>
          </a:prstGeom>
          <a:solidFill>
            <a:schemeClr val="bg2"/>
          </a:solidFill>
          <a:ln w="12700">
            <a:solidFill>
              <a:schemeClr val="bg2"/>
            </a:solidFill>
            <a:prstDash val="solid"/>
          </a:ln>
        </p:spPr>
        <p:txBody>
          <a:bodyPr/>
          <a:lstStyle/>
          <a:p>
            <a:endParaRPr lang="fr-FR"/>
          </a:p>
        </p:txBody>
      </p:sp>
      <p:sp>
        <p:nvSpPr>
          <p:cNvPr id="14" name="Text 12"/>
          <p:cNvSpPr txBox="1"/>
          <p:nvPr/>
        </p:nvSpPr>
        <p:spPr>
          <a:xfrm>
            <a:off x="1600200" y="1572768"/>
            <a:ext cx="2743200" cy="292608"/>
          </a:xfrm>
          <a:prstGeom prst="rect">
            <a:avLst/>
          </a:prstGeom>
          <a:noFill/>
          <a:ln/>
        </p:spPr>
        <p:txBody>
          <a:bodyPr wrap="square" lIns="0" tIns="0" rIns="0" bIns="0" rtlCol="0" anchor="ctr"/>
          <a:lstStyle/>
          <a:p>
            <a:pPr marL="0" indent="0">
              <a:buNone/>
            </a:pPr>
            <a:r>
              <a:rPr lang="en-US" sz="1200" dirty="0">
                <a:solidFill>
                  <a:schemeClr val="tx1"/>
                </a:solidFill>
              </a:rPr>
              <a:t>Double validation des RIB dans l’ERP</a:t>
            </a:r>
            <a:endParaRPr lang="en-US" sz="1200" dirty="0"/>
          </a:p>
        </p:txBody>
      </p:sp>
      <p:sp>
        <p:nvSpPr>
          <p:cNvPr id="15" name="Text 13"/>
          <p:cNvSpPr txBox="1"/>
          <p:nvPr/>
        </p:nvSpPr>
        <p:spPr>
          <a:xfrm>
            <a:off x="4343400" y="1572768"/>
            <a:ext cx="914400" cy="292608"/>
          </a:xfrm>
          <a:prstGeom prst="rect">
            <a:avLst/>
          </a:prstGeom>
          <a:noFill/>
          <a:ln/>
        </p:spPr>
        <p:txBody>
          <a:bodyPr wrap="square" lIns="0" tIns="0" rIns="0" bIns="0" rtlCol="0" anchor="ctr"/>
          <a:lstStyle/>
          <a:p>
            <a:pPr marL="0" indent="0">
              <a:buNone/>
            </a:pPr>
            <a:r>
              <a:rPr lang="en-US" sz="1100" dirty="0">
                <a:solidFill>
                  <a:schemeClr val="tx2"/>
                </a:solidFill>
              </a:rPr>
              <a:t>T. Weber</a:t>
            </a:r>
            <a:endParaRPr lang="en-US" sz="1100" dirty="0"/>
          </a:p>
        </p:txBody>
      </p:sp>
      <p:sp>
        <p:nvSpPr>
          <p:cNvPr id="16" name="Text 14"/>
          <p:cNvSpPr txBox="1"/>
          <p:nvPr/>
        </p:nvSpPr>
        <p:spPr>
          <a:xfrm>
            <a:off x="5257800" y="1572768"/>
            <a:ext cx="1051560" cy="292608"/>
          </a:xfrm>
          <a:prstGeom prst="rect">
            <a:avLst/>
          </a:prstGeom>
          <a:noFill/>
          <a:ln/>
        </p:spPr>
        <p:txBody>
          <a:bodyPr wrap="square" lIns="0" tIns="0" rIns="0" bIns="0" rtlCol="0" anchor="ctr"/>
          <a:lstStyle/>
          <a:p>
            <a:pPr marL="0" indent="0" algn="r">
              <a:buNone/>
            </a:pPr>
            <a:r>
              <a:rPr lang="en-US" sz="1100" dirty="0">
                <a:solidFill>
                  <a:schemeClr val="accent5"/>
                </a:solidFill>
              </a:rPr>
              <a:t>0 €</a:t>
            </a:r>
            <a:endParaRPr lang="en-US" sz="1100" dirty="0"/>
          </a:p>
        </p:txBody>
      </p:sp>
      <p:sp>
        <p:nvSpPr>
          <p:cNvPr id="17" name="Text 15"/>
          <p:cNvSpPr txBox="1"/>
          <p:nvPr/>
        </p:nvSpPr>
        <p:spPr>
          <a:xfrm>
            <a:off x="457200" y="1911096"/>
            <a:ext cx="1005840" cy="292608"/>
          </a:xfrm>
          <a:prstGeom prst="rect">
            <a:avLst/>
          </a:prstGeom>
          <a:noFill/>
          <a:ln/>
        </p:spPr>
        <p:txBody>
          <a:bodyPr wrap="square" lIns="0" tIns="0" rIns="0" bIns="0" rtlCol="0" anchor="ctr"/>
          <a:lstStyle/>
          <a:p>
            <a:pPr marL="0" indent="0">
              <a:buNone/>
            </a:pPr>
            <a:r>
              <a:rPr lang="en-US" sz="1200" b="1" dirty="0">
                <a:solidFill>
                  <a:schemeClr val="tx2"/>
                </a:solidFill>
              </a:rPr>
              <a:t>Déc. 2026</a:t>
            </a:r>
            <a:endParaRPr lang="en-US" sz="1200" dirty="0"/>
          </a:p>
        </p:txBody>
      </p:sp>
      <p:sp>
        <p:nvSpPr>
          <p:cNvPr id="18" name="Shape 16"/>
          <p:cNvSpPr/>
          <p:nvPr/>
        </p:nvSpPr>
        <p:spPr>
          <a:xfrm>
            <a:off x="1463040" y="1911096"/>
            <a:ext cx="4937760" cy="292608"/>
          </a:xfrm>
          <a:prstGeom prst="roundRect">
            <a:avLst>
              <a:gd name="adj" fmla="val 25000"/>
            </a:avLst>
          </a:prstGeom>
          <a:solidFill>
            <a:schemeClr val="bg2"/>
          </a:solidFill>
          <a:ln w="12700">
            <a:solidFill>
              <a:schemeClr val="bg2"/>
            </a:solidFill>
            <a:prstDash val="solid"/>
          </a:ln>
        </p:spPr>
        <p:txBody>
          <a:bodyPr/>
          <a:lstStyle/>
          <a:p>
            <a:endParaRPr lang="fr-FR"/>
          </a:p>
        </p:txBody>
      </p:sp>
      <p:sp>
        <p:nvSpPr>
          <p:cNvPr id="19" name="Text 17"/>
          <p:cNvSpPr txBox="1"/>
          <p:nvPr/>
        </p:nvSpPr>
        <p:spPr>
          <a:xfrm>
            <a:off x="1600200" y="1911096"/>
            <a:ext cx="2743200" cy="292608"/>
          </a:xfrm>
          <a:prstGeom prst="rect">
            <a:avLst/>
          </a:prstGeom>
          <a:noFill/>
          <a:ln/>
        </p:spPr>
        <p:txBody>
          <a:bodyPr wrap="square" lIns="0" tIns="0" rIns="0" bIns="0" rtlCol="0" anchor="ctr"/>
          <a:lstStyle/>
          <a:p>
            <a:pPr marL="0" indent="0">
              <a:buNone/>
            </a:pPr>
            <a:r>
              <a:rPr lang="en-US" sz="1200" dirty="0">
                <a:solidFill>
                  <a:schemeClr val="tx1"/>
                </a:solidFill>
              </a:rPr>
              <a:t>MFA : accès distants, console, messagerie</a:t>
            </a:r>
            <a:endParaRPr lang="en-US" sz="1200" dirty="0"/>
          </a:p>
        </p:txBody>
      </p:sp>
      <p:sp>
        <p:nvSpPr>
          <p:cNvPr id="20" name="Text 18"/>
          <p:cNvSpPr txBox="1"/>
          <p:nvPr/>
        </p:nvSpPr>
        <p:spPr>
          <a:xfrm>
            <a:off x="4343400" y="1911096"/>
            <a:ext cx="914400" cy="292608"/>
          </a:xfrm>
          <a:prstGeom prst="rect">
            <a:avLst/>
          </a:prstGeom>
          <a:noFill/>
          <a:ln/>
        </p:spPr>
        <p:txBody>
          <a:bodyPr wrap="square" lIns="0" tIns="0" rIns="0" bIns="0" rtlCol="0" anchor="ctr"/>
          <a:lstStyle/>
          <a:p>
            <a:pPr marL="0" indent="0">
              <a:buNone/>
            </a:pPr>
            <a:r>
              <a:rPr lang="en-US" sz="1100" dirty="0">
                <a:solidFill>
                  <a:schemeClr val="tx2"/>
                </a:solidFill>
              </a:rPr>
              <a:t>S. Haas</a:t>
            </a:r>
            <a:endParaRPr lang="en-US" sz="1100" dirty="0"/>
          </a:p>
        </p:txBody>
      </p:sp>
      <p:sp>
        <p:nvSpPr>
          <p:cNvPr id="21" name="Text 19"/>
          <p:cNvSpPr txBox="1"/>
          <p:nvPr/>
        </p:nvSpPr>
        <p:spPr>
          <a:xfrm>
            <a:off x="5257800" y="1911096"/>
            <a:ext cx="1051560" cy="292608"/>
          </a:xfrm>
          <a:prstGeom prst="rect">
            <a:avLst/>
          </a:prstGeom>
          <a:noFill/>
          <a:ln/>
        </p:spPr>
        <p:txBody>
          <a:bodyPr wrap="square" lIns="0" tIns="0" rIns="0" bIns="0" rtlCol="0" anchor="ctr"/>
          <a:lstStyle/>
          <a:p>
            <a:pPr marL="0" indent="0" algn="r">
              <a:buNone/>
            </a:pPr>
            <a:r>
              <a:rPr lang="en-US" sz="1100" dirty="0">
                <a:solidFill>
                  <a:schemeClr val="accent5"/>
                </a:solidFill>
              </a:rPr>
              <a:t>4 k€/an</a:t>
            </a:r>
            <a:endParaRPr lang="en-US" sz="1100" dirty="0"/>
          </a:p>
        </p:txBody>
      </p:sp>
      <p:sp>
        <p:nvSpPr>
          <p:cNvPr id="22" name="Text 20"/>
          <p:cNvSpPr txBox="1"/>
          <p:nvPr/>
        </p:nvSpPr>
        <p:spPr>
          <a:xfrm>
            <a:off x="457200" y="2249424"/>
            <a:ext cx="1005840" cy="292608"/>
          </a:xfrm>
          <a:prstGeom prst="rect">
            <a:avLst/>
          </a:prstGeom>
          <a:noFill/>
          <a:ln/>
        </p:spPr>
        <p:txBody>
          <a:bodyPr wrap="square" lIns="0" tIns="0" rIns="0" bIns="0" rtlCol="0" anchor="ctr"/>
          <a:lstStyle/>
          <a:p>
            <a:pPr marL="0" indent="0">
              <a:buNone/>
            </a:pPr>
            <a:r>
              <a:rPr lang="en-US" sz="1200" b="1" dirty="0">
                <a:solidFill>
                  <a:schemeClr val="tx2"/>
                </a:solidFill>
              </a:rPr>
              <a:t>Déc. 2026</a:t>
            </a:r>
            <a:endParaRPr lang="en-US" sz="1200" dirty="0"/>
          </a:p>
        </p:txBody>
      </p:sp>
      <p:sp>
        <p:nvSpPr>
          <p:cNvPr id="23" name="Shape 21"/>
          <p:cNvSpPr/>
          <p:nvPr/>
        </p:nvSpPr>
        <p:spPr>
          <a:xfrm>
            <a:off x="1463040" y="2249424"/>
            <a:ext cx="4937760" cy="292608"/>
          </a:xfrm>
          <a:prstGeom prst="roundRect">
            <a:avLst>
              <a:gd name="adj" fmla="val 25000"/>
            </a:avLst>
          </a:prstGeom>
          <a:solidFill>
            <a:schemeClr val="bg2"/>
          </a:solidFill>
          <a:ln w="12700">
            <a:solidFill>
              <a:schemeClr val="bg2"/>
            </a:solidFill>
            <a:prstDash val="solid"/>
          </a:ln>
        </p:spPr>
        <p:txBody>
          <a:bodyPr/>
          <a:lstStyle/>
          <a:p>
            <a:endParaRPr lang="fr-FR"/>
          </a:p>
        </p:txBody>
      </p:sp>
      <p:sp>
        <p:nvSpPr>
          <p:cNvPr id="24" name="Text 22"/>
          <p:cNvSpPr txBox="1"/>
          <p:nvPr/>
        </p:nvSpPr>
        <p:spPr>
          <a:xfrm>
            <a:off x="1600200" y="2249424"/>
            <a:ext cx="2743200" cy="292608"/>
          </a:xfrm>
          <a:prstGeom prst="rect">
            <a:avLst/>
          </a:prstGeom>
          <a:noFill/>
          <a:ln/>
        </p:spPr>
        <p:txBody>
          <a:bodyPr wrap="square" lIns="0" tIns="0" rIns="0" bIns="0" rtlCol="0" anchor="ctr"/>
          <a:lstStyle/>
          <a:p>
            <a:pPr marL="0" indent="0">
              <a:buNone/>
            </a:pPr>
            <a:r>
              <a:rPr lang="en-US" sz="1200" dirty="0">
                <a:solidFill>
                  <a:schemeClr val="tx1"/>
                </a:solidFill>
              </a:rPr>
              <a:t>Restreindre les exports du CRM</a:t>
            </a:r>
            <a:endParaRPr lang="en-US" sz="1200" dirty="0"/>
          </a:p>
        </p:txBody>
      </p:sp>
      <p:sp>
        <p:nvSpPr>
          <p:cNvPr id="25" name="Text 23"/>
          <p:cNvSpPr txBox="1"/>
          <p:nvPr/>
        </p:nvSpPr>
        <p:spPr>
          <a:xfrm>
            <a:off x="4343400" y="2249424"/>
            <a:ext cx="914400" cy="292608"/>
          </a:xfrm>
          <a:prstGeom prst="rect">
            <a:avLst/>
          </a:prstGeom>
          <a:noFill/>
          <a:ln/>
        </p:spPr>
        <p:txBody>
          <a:bodyPr wrap="square" lIns="0" tIns="0" rIns="0" bIns="0" rtlCol="0" anchor="ctr"/>
          <a:lstStyle/>
          <a:p>
            <a:pPr marL="0" indent="0">
              <a:buNone/>
            </a:pPr>
            <a:r>
              <a:rPr lang="en-US" sz="1100" dirty="0">
                <a:solidFill>
                  <a:schemeClr val="tx2"/>
                </a:solidFill>
              </a:rPr>
              <a:t>J. Roth</a:t>
            </a:r>
            <a:endParaRPr lang="en-US" sz="1100" dirty="0"/>
          </a:p>
        </p:txBody>
      </p:sp>
      <p:sp>
        <p:nvSpPr>
          <p:cNvPr id="26" name="Text 24"/>
          <p:cNvSpPr txBox="1"/>
          <p:nvPr/>
        </p:nvSpPr>
        <p:spPr>
          <a:xfrm>
            <a:off x="5257800" y="2249424"/>
            <a:ext cx="1051560" cy="292608"/>
          </a:xfrm>
          <a:prstGeom prst="rect">
            <a:avLst/>
          </a:prstGeom>
          <a:noFill/>
          <a:ln/>
        </p:spPr>
        <p:txBody>
          <a:bodyPr wrap="square" lIns="0" tIns="0" rIns="0" bIns="0" rtlCol="0" anchor="ctr"/>
          <a:lstStyle/>
          <a:p>
            <a:pPr marL="0" indent="0" algn="r">
              <a:buNone/>
            </a:pPr>
            <a:r>
              <a:rPr lang="en-US" sz="1100" dirty="0">
                <a:solidFill>
                  <a:schemeClr val="accent5"/>
                </a:solidFill>
              </a:rPr>
              <a:t>1 k€</a:t>
            </a:r>
            <a:endParaRPr lang="en-US" sz="1100" dirty="0"/>
          </a:p>
        </p:txBody>
      </p:sp>
      <p:sp>
        <p:nvSpPr>
          <p:cNvPr id="27" name="Text 25"/>
          <p:cNvSpPr txBox="1"/>
          <p:nvPr/>
        </p:nvSpPr>
        <p:spPr>
          <a:xfrm>
            <a:off x="457200" y="2587752"/>
            <a:ext cx="1005840" cy="292608"/>
          </a:xfrm>
          <a:prstGeom prst="rect">
            <a:avLst/>
          </a:prstGeom>
          <a:noFill/>
          <a:ln/>
        </p:spPr>
        <p:txBody>
          <a:bodyPr wrap="square" lIns="0" tIns="0" rIns="0" bIns="0" rtlCol="0" anchor="ctr"/>
          <a:lstStyle/>
          <a:p>
            <a:pPr marL="0" indent="0">
              <a:buNone/>
            </a:pPr>
            <a:r>
              <a:rPr lang="en-US" sz="1200" b="1" dirty="0">
                <a:solidFill>
                  <a:schemeClr val="tx2"/>
                </a:solidFill>
              </a:rPr>
              <a:t>Janv. 2027</a:t>
            </a:r>
            <a:endParaRPr lang="en-US" sz="1200" dirty="0"/>
          </a:p>
        </p:txBody>
      </p:sp>
      <p:sp>
        <p:nvSpPr>
          <p:cNvPr id="28" name="Shape 26"/>
          <p:cNvSpPr/>
          <p:nvPr/>
        </p:nvSpPr>
        <p:spPr>
          <a:xfrm>
            <a:off x="1463040" y="2587752"/>
            <a:ext cx="4937760" cy="292608"/>
          </a:xfrm>
          <a:prstGeom prst="roundRect">
            <a:avLst>
              <a:gd name="adj" fmla="val 25000"/>
            </a:avLst>
          </a:prstGeom>
          <a:solidFill>
            <a:schemeClr val="bg2"/>
          </a:solidFill>
          <a:ln w="12700">
            <a:solidFill>
              <a:schemeClr val="bg2"/>
            </a:solidFill>
            <a:prstDash val="solid"/>
          </a:ln>
        </p:spPr>
        <p:txBody>
          <a:bodyPr/>
          <a:lstStyle/>
          <a:p>
            <a:endParaRPr lang="fr-FR"/>
          </a:p>
        </p:txBody>
      </p:sp>
      <p:sp>
        <p:nvSpPr>
          <p:cNvPr id="29" name="Text 27"/>
          <p:cNvSpPr txBox="1"/>
          <p:nvPr/>
        </p:nvSpPr>
        <p:spPr>
          <a:xfrm>
            <a:off x="1600200" y="2587752"/>
            <a:ext cx="2743200" cy="292608"/>
          </a:xfrm>
          <a:prstGeom prst="rect">
            <a:avLst/>
          </a:prstGeom>
          <a:noFill/>
          <a:ln/>
        </p:spPr>
        <p:txBody>
          <a:bodyPr wrap="square" lIns="0" tIns="0" rIns="0" bIns="0" rtlCol="0" anchor="ctr"/>
          <a:lstStyle/>
          <a:p>
            <a:pPr marL="0" indent="0">
              <a:buNone/>
            </a:pPr>
            <a:r>
              <a:rPr lang="en-US" sz="1200" dirty="0">
                <a:solidFill>
                  <a:schemeClr val="tx1"/>
                </a:solidFill>
              </a:rPr>
              <a:t>Avenant de sécurité à l’infogérance</a:t>
            </a:r>
            <a:endParaRPr lang="en-US" sz="1200" dirty="0"/>
          </a:p>
        </p:txBody>
      </p:sp>
      <p:sp>
        <p:nvSpPr>
          <p:cNvPr id="30" name="Text 28"/>
          <p:cNvSpPr txBox="1"/>
          <p:nvPr/>
        </p:nvSpPr>
        <p:spPr>
          <a:xfrm>
            <a:off x="4343400" y="2587752"/>
            <a:ext cx="914400" cy="292608"/>
          </a:xfrm>
          <a:prstGeom prst="rect">
            <a:avLst/>
          </a:prstGeom>
          <a:noFill/>
          <a:ln/>
        </p:spPr>
        <p:txBody>
          <a:bodyPr wrap="square" lIns="0" tIns="0" rIns="0" bIns="0" rtlCol="0" anchor="ctr"/>
          <a:lstStyle/>
          <a:p>
            <a:pPr marL="0" indent="0">
              <a:buNone/>
            </a:pPr>
            <a:r>
              <a:rPr lang="en-US" sz="1100" dirty="0">
                <a:solidFill>
                  <a:schemeClr val="tx2"/>
                </a:solidFill>
              </a:rPr>
              <a:t>T. Weber</a:t>
            </a:r>
            <a:endParaRPr lang="en-US" sz="1100" dirty="0"/>
          </a:p>
        </p:txBody>
      </p:sp>
      <p:sp>
        <p:nvSpPr>
          <p:cNvPr id="31" name="Text 29"/>
          <p:cNvSpPr txBox="1"/>
          <p:nvPr/>
        </p:nvSpPr>
        <p:spPr>
          <a:xfrm>
            <a:off x="5257800" y="2587752"/>
            <a:ext cx="1051560" cy="292608"/>
          </a:xfrm>
          <a:prstGeom prst="rect">
            <a:avLst/>
          </a:prstGeom>
          <a:noFill/>
          <a:ln/>
        </p:spPr>
        <p:txBody>
          <a:bodyPr wrap="square" lIns="0" tIns="0" rIns="0" bIns="0" rtlCol="0" anchor="ctr"/>
          <a:lstStyle/>
          <a:p>
            <a:pPr marL="0" indent="0" algn="r">
              <a:buNone/>
            </a:pPr>
            <a:r>
              <a:rPr lang="en-US" sz="1100" dirty="0">
                <a:solidFill>
                  <a:schemeClr val="accent5"/>
                </a:solidFill>
              </a:rPr>
              <a:t>2 k€</a:t>
            </a:r>
            <a:endParaRPr lang="en-US" sz="1100" dirty="0"/>
          </a:p>
        </p:txBody>
      </p:sp>
      <p:sp>
        <p:nvSpPr>
          <p:cNvPr id="32" name="Text 30"/>
          <p:cNvSpPr txBox="1"/>
          <p:nvPr/>
        </p:nvSpPr>
        <p:spPr>
          <a:xfrm>
            <a:off x="457200" y="2926080"/>
            <a:ext cx="1005840" cy="292608"/>
          </a:xfrm>
          <a:prstGeom prst="rect">
            <a:avLst/>
          </a:prstGeom>
          <a:noFill/>
          <a:ln/>
        </p:spPr>
        <p:txBody>
          <a:bodyPr wrap="square" lIns="0" tIns="0" rIns="0" bIns="0" rtlCol="0" anchor="ctr"/>
          <a:lstStyle/>
          <a:p>
            <a:pPr marL="0" indent="0">
              <a:buNone/>
            </a:pPr>
            <a:r>
              <a:rPr lang="en-US" sz="1200" b="1" dirty="0">
                <a:solidFill>
                  <a:schemeClr val="tx2"/>
                </a:solidFill>
              </a:rPr>
              <a:t>Janv. 2027</a:t>
            </a:r>
            <a:endParaRPr lang="en-US" sz="1200" dirty="0"/>
          </a:p>
        </p:txBody>
      </p:sp>
      <p:sp>
        <p:nvSpPr>
          <p:cNvPr id="33" name="Shape 31"/>
          <p:cNvSpPr/>
          <p:nvPr/>
        </p:nvSpPr>
        <p:spPr>
          <a:xfrm>
            <a:off x="1463040" y="2926080"/>
            <a:ext cx="4937760" cy="292608"/>
          </a:xfrm>
          <a:prstGeom prst="roundRect">
            <a:avLst>
              <a:gd name="adj" fmla="val 25000"/>
            </a:avLst>
          </a:prstGeom>
          <a:solidFill>
            <a:schemeClr val="bg2"/>
          </a:solidFill>
          <a:ln w="12700">
            <a:solidFill>
              <a:schemeClr val="bg2"/>
            </a:solidFill>
            <a:prstDash val="solid"/>
          </a:ln>
        </p:spPr>
        <p:txBody>
          <a:bodyPr/>
          <a:lstStyle/>
          <a:p>
            <a:endParaRPr lang="fr-FR"/>
          </a:p>
        </p:txBody>
      </p:sp>
      <p:sp>
        <p:nvSpPr>
          <p:cNvPr id="34" name="Text 32"/>
          <p:cNvSpPr txBox="1"/>
          <p:nvPr/>
        </p:nvSpPr>
        <p:spPr>
          <a:xfrm>
            <a:off x="1600200" y="2926080"/>
            <a:ext cx="2743200" cy="292608"/>
          </a:xfrm>
          <a:prstGeom prst="rect">
            <a:avLst/>
          </a:prstGeom>
          <a:noFill/>
          <a:ln/>
        </p:spPr>
        <p:txBody>
          <a:bodyPr wrap="square" lIns="0" tIns="0" rIns="0" bIns="0" rtlCol="0" anchor="ctr"/>
          <a:lstStyle/>
          <a:p>
            <a:pPr marL="0" indent="0">
              <a:buNone/>
            </a:pPr>
            <a:r>
              <a:rPr lang="en-US" sz="1200" dirty="0">
                <a:solidFill>
                  <a:schemeClr val="tx1"/>
                </a:solidFill>
              </a:rPr>
              <a:t>Sauvegarde immuable testée</a:t>
            </a:r>
            <a:endParaRPr lang="en-US" sz="1200" dirty="0"/>
          </a:p>
        </p:txBody>
      </p:sp>
      <p:sp>
        <p:nvSpPr>
          <p:cNvPr id="35" name="Text 33"/>
          <p:cNvSpPr txBox="1"/>
          <p:nvPr/>
        </p:nvSpPr>
        <p:spPr>
          <a:xfrm>
            <a:off x="4343400" y="2926080"/>
            <a:ext cx="914400" cy="292608"/>
          </a:xfrm>
          <a:prstGeom prst="rect">
            <a:avLst/>
          </a:prstGeom>
          <a:noFill/>
          <a:ln/>
        </p:spPr>
        <p:txBody>
          <a:bodyPr wrap="square" lIns="0" tIns="0" rIns="0" bIns="0" rtlCol="0" anchor="ctr"/>
          <a:lstStyle/>
          <a:p>
            <a:pPr marL="0" indent="0">
              <a:buNone/>
            </a:pPr>
            <a:r>
              <a:rPr lang="en-US" sz="1100" dirty="0">
                <a:solidFill>
                  <a:schemeClr val="tx2"/>
                </a:solidFill>
              </a:rPr>
              <a:t>S. Haas</a:t>
            </a:r>
            <a:endParaRPr lang="en-US" sz="1100" dirty="0"/>
          </a:p>
        </p:txBody>
      </p:sp>
      <p:sp>
        <p:nvSpPr>
          <p:cNvPr id="36" name="Text 34"/>
          <p:cNvSpPr txBox="1"/>
          <p:nvPr/>
        </p:nvSpPr>
        <p:spPr>
          <a:xfrm>
            <a:off x="5257800" y="2926080"/>
            <a:ext cx="1051560" cy="292608"/>
          </a:xfrm>
          <a:prstGeom prst="rect">
            <a:avLst/>
          </a:prstGeom>
          <a:noFill/>
          <a:ln/>
        </p:spPr>
        <p:txBody>
          <a:bodyPr wrap="square" lIns="0" tIns="0" rIns="0" bIns="0" rtlCol="0" anchor="ctr"/>
          <a:lstStyle/>
          <a:p>
            <a:pPr marL="0" indent="0" algn="r">
              <a:buNone/>
            </a:pPr>
            <a:r>
              <a:rPr lang="en-US" sz="1100" dirty="0">
                <a:solidFill>
                  <a:schemeClr val="accent5"/>
                </a:solidFill>
              </a:rPr>
              <a:t>6 k€/an</a:t>
            </a:r>
            <a:endParaRPr lang="en-US" sz="1100" dirty="0"/>
          </a:p>
        </p:txBody>
      </p:sp>
      <p:sp>
        <p:nvSpPr>
          <p:cNvPr id="37" name="Text 35"/>
          <p:cNvSpPr txBox="1"/>
          <p:nvPr/>
        </p:nvSpPr>
        <p:spPr>
          <a:xfrm>
            <a:off x="457200" y="3264408"/>
            <a:ext cx="1005840" cy="292608"/>
          </a:xfrm>
          <a:prstGeom prst="rect">
            <a:avLst/>
          </a:prstGeom>
          <a:noFill/>
          <a:ln/>
        </p:spPr>
        <p:txBody>
          <a:bodyPr wrap="square" lIns="0" tIns="0" rIns="0" bIns="0" rtlCol="0" anchor="ctr"/>
          <a:lstStyle/>
          <a:p>
            <a:pPr marL="0" indent="0">
              <a:buNone/>
            </a:pPr>
            <a:r>
              <a:rPr lang="en-US" sz="1200" b="1" dirty="0">
                <a:solidFill>
                  <a:schemeClr val="tx2"/>
                </a:solidFill>
              </a:rPr>
              <a:t>Janv. 2027</a:t>
            </a:r>
            <a:endParaRPr lang="en-US" sz="1200" dirty="0"/>
          </a:p>
        </p:txBody>
      </p:sp>
      <p:sp>
        <p:nvSpPr>
          <p:cNvPr id="38" name="Shape 36"/>
          <p:cNvSpPr/>
          <p:nvPr/>
        </p:nvSpPr>
        <p:spPr>
          <a:xfrm>
            <a:off x="1463040" y="3264408"/>
            <a:ext cx="4937760" cy="292608"/>
          </a:xfrm>
          <a:prstGeom prst="roundRect">
            <a:avLst>
              <a:gd name="adj" fmla="val 25000"/>
            </a:avLst>
          </a:prstGeom>
          <a:solidFill>
            <a:schemeClr val="bg2"/>
          </a:solidFill>
          <a:ln w="12700">
            <a:solidFill>
              <a:schemeClr val="bg2"/>
            </a:solidFill>
            <a:prstDash val="solid"/>
          </a:ln>
        </p:spPr>
        <p:txBody>
          <a:bodyPr/>
          <a:lstStyle/>
          <a:p>
            <a:endParaRPr lang="fr-FR"/>
          </a:p>
        </p:txBody>
      </p:sp>
      <p:sp>
        <p:nvSpPr>
          <p:cNvPr id="39" name="Text 37"/>
          <p:cNvSpPr txBox="1"/>
          <p:nvPr/>
        </p:nvSpPr>
        <p:spPr>
          <a:xfrm>
            <a:off x="1600200" y="3264408"/>
            <a:ext cx="2743200" cy="292608"/>
          </a:xfrm>
          <a:prstGeom prst="rect">
            <a:avLst/>
          </a:prstGeom>
          <a:noFill/>
          <a:ln/>
        </p:spPr>
        <p:txBody>
          <a:bodyPr wrap="square" lIns="0" tIns="0" rIns="0" bIns="0" rtlCol="0" anchor="ctr"/>
          <a:lstStyle/>
          <a:p>
            <a:pPr marL="0" indent="0">
              <a:buNone/>
            </a:pPr>
            <a:r>
              <a:rPr lang="en-US" sz="1200" dirty="0">
                <a:solidFill>
                  <a:schemeClr val="tx1"/>
                </a:solidFill>
              </a:rPr>
              <a:t>Sensibilisation à l’hameçonnage</a:t>
            </a:r>
            <a:endParaRPr lang="en-US" sz="1200" dirty="0"/>
          </a:p>
        </p:txBody>
      </p:sp>
      <p:sp>
        <p:nvSpPr>
          <p:cNvPr id="40" name="Text 38"/>
          <p:cNvSpPr txBox="1"/>
          <p:nvPr/>
        </p:nvSpPr>
        <p:spPr>
          <a:xfrm>
            <a:off x="4343400" y="3264408"/>
            <a:ext cx="914400" cy="292608"/>
          </a:xfrm>
          <a:prstGeom prst="rect">
            <a:avLst/>
          </a:prstGeom>
          <a:noFill/>
          <a:ln/>
        </p:spPr>
        <p:txBody>
          <a:bodyPr wrap="square" lIns="0" tIns="0" rIns="0" bIns="0" rtlCol="0" anchor="ctr"/>
          <a:lstStyle/>
          <a:p>
            <a:pPr marL="0" indent="0">
              <a:buNone/>
            </a:pPr>
            <a:r>
              <a:rPr lang="en-US" sz="1100" dirty="0">
                <a:solidFill>
                  <a:schemeClr val="tx2"/>
                </a:solidFill>
              </a:rPr>
              <a:t>S. Haas</a:t>
            </a:r>
            <a:endParaRPr lang="en-US" sz="1100" dirty="0"/>
          </a:p>
        </p:txBody>
      </p:sp>
      <p:sp>
        <p:nvSpPr>
          <p:cNvPr id="41" name="Text 39"/>
          <p:cNvSpPr txBox="1"/>
          <p:nvPr/>
        </p:nvSpPr>
        <p:spPr>
          <a:xfrm>
            <a:off x="5257800" y="3264408"/>
            <a:ext cx="1051560" cy="292608"/>
          </a:xfrm>
          <a:prstGeom prst="rect">
            <a:avLst/>
          </a:prstGeom>
          <a:noFill/>
          <a:ln/>
        </p:spPr>
        <p:txBody>
          <a:bodyPr wrap="square" lIns="0" tIns="0" rIns="0" bIns="0" rtlCol="0" anchor="ctr"/>
          <a:lstStyle/>
          <a:p>
            <a:pPr marL="0" indent="0" algn="r">
              <a:buNone/>
            </a:pPr>
            <a:r>
              <a:rPr lang="en-US" sz="1100" dirty="0">
                <a:solidFill>
                  <a:schemeClr val="accent5"/>
                </a:solidFill>
              </a:rPr>
              <a:t>3 k€/an</a:t>
            </a:r>
            <a:endParaRPr lang="en-US" sz="1100" dirty="0"/>
          </a:p>
        </p:txBody>
      </p:sp>
      <p:sp>
        <p:nvSpPr>
          <p:cNvPr id="42" name="Text 40"/>
          <p:cNvSpPr txBox="1"/>
          <p:nvPr/>
        </p:nvSpPr>
        <p:spPr>
          <a:xfrm>
            <a:off x="457200" y="3602736"/>
            <a:ext cx="1005840" cy="292608"/>
          </a:xfrm>
          <a:prstGeom prst="rect">
            <a:avLst/>
          </a:prstGeom>
          <a:noFill/>
          <a:ln/>
        </p:spPr>
        <p:txBody>
          <a:bodyPr wrap="square" lIns="0" tIns="0" rIns="0" bIns="0" rtlCol="0" anchor="ctr"/>
          <a:lstStyle/>
          <a:p>
            <a:pPr marL="0" indent="0">
              <a:buNone/>
            </a:pPr>
            <a:r>
              <a:rPr lang="en-US" sz="1200" b="1" dirty="0">
                <a:solidFill>
                  <a:schemeClr val="tx2"/>
                </a:solidFill>
              </a:rPr>
              <a:t>Févr. 2027</a:t>
            </a:r>
            <a:endParaRPr lang="en-US" sz="1200" dirty="0"/>
          </a:p>
        </p:txBody>
      </p:sp>
      <p:sp>
        <p:nvSpPr>
          <p:cNvPr id="43" name="Shape 41"/>
          <p:cNvSpPr/>
          <p:nvPr/>
        </p:nvSpPr>
        <p:spPr>
          <a:xfrm>
            <a:off x="1463040" y="3602736"/>
            <a:ext cx="4937760" cy="292608"/>
          </a:xfrm>
          <a:prstGeom prst="roundRect">
            <a:avLst>
              <a:gd name="adj" fmla="val 25000"/>
            </a:avLst>
          </a:prstGeom>
          <a:solidFill>
            <a:schemeClr val="bg2"/>
          </a:solidFill>
          <a:ln w="12700">
            <a:solidFill>
              <a:schemeClr val="bg2"/>
            </a:solidFill>
            <a:prstDash val="solid"/>
          </a:ln>
        </p:spPr>
        <p:txBody>
          <a:bodyPr/>
          <a:lstStyle/>
          <a:p>
            <a:endParaRPr lang="fr-FR"/>
          </a:p>
        </p:txBody>
      </p:sp>
      <p:sp>
        <p:nvSpPr>
          <p:cNvPr id="44" name="Text 42"/>
          <p:cNvSpPr txBox="1"/>
          <p:nvPr/>
        </p:nvSpPr>
        <p:spPr>
          <a:xfrm>
            <a:off x="1600200" y="3602736"/>
            <a:ext cx="2743200" cy="292608"/>
          </a:xfrm>
          <a:prstGeom prst="rect">
            <a:avLst/>
          </a:prstGeom>
          <a:noFill/>
          <a:ln/>
        </p:spPr>
        <p:txBody>
          <a:bodyPr wrap="square" lIns="0" tIns="0" rIns="0" bIns="0" rtlCol="0" anchor="ctr"/>
          <a:lstStyle/>
          <a:p>
            <a:pPr marL="0" indent="0">
              <a:buNone/>
            </a:pPr>
            <a:r>
              <a:rPr lang="en-US" sz="1200" dirty="0">
                <a:solidFill>
                  <a:schemeClr val="tx1"/>
                </a:solidFill>
              </a:rPr>
              <a:t>Détection sur postes et serveurs (EDR)</a:t>
            </a:r>
            <a:endParaRPr lang="en-US" sz="1200" dirty="0"/>
          </a:p>
        </p:txBody>
      </p:sp>
      <p:sp>
        <p:nvSpPr>
          <p:cNvPr id="45" name="Text 43"/>
          <p:cNvSpPr txBox="1"/>
          <p:nvPr/>
        </p:nvSpPr>
        <p:spPr>
          <a:xfrm>
            <a:off x="4343400" y="3602736"/>
            <a:ext cx="914400" cy="292608"/>
          </a:xfrm>
          <a:prstGeom prst="rect">
            <a:avLst/>
          </a:prstGeom>
          <a:noFill/>
          <a:ln/>
        </p:spPr>
        <p:txBody>
          <a:bodyPr wrap="square" lIns="0" tIns="0" rIns="0" bIns="0" rtlCol="0" anchor="ctr"/>
          <a:lstStyle/>
          <a:p>
            <a:pPr marL="0" indent="0">
              <a:buNone/>
            </a:pPr>
            <a:r>
              <a:rPr lang="en-US" sz="1100" dirty="0">
                <a:solidFill>
                  <a:schemeClr val="tx2"/>
                </a:solidFill>
              </a:rPr>
              <a:t>S. Haas</a:t>
            </a:r>
            <a:endParaRPr lang="en-US" sz="1100" dirty="0"/>
          </a:p>
        </p:txBody>
      </p:sp>
      <p:sp>
        <p:nvSpPr>
          <p:cNvPr id="46" name="Text 44"/>
          <p:cNvSpPr txBox="1"/>
          <p:nvPr/>
        </p:nvSpPr>
        <p:spPr>
          <a:xfrm>
            <a:off x="5257800" y="3602736"/>
            <a:ext cx="1051560" cy="292608"/>
          </a:xfrm>
          <a:prstGeom prst="rect">
            <a:avLst/>
          </a:prstGeom>
          <a:noFill/>
          <a:ln/>
        </p:spPr>
        <p:txBody>
          <a:bodyPr wrap="square" lIns="0" tIns="0" rIns="0" bIns="0" rtlCol="0" anchor="ctr"/>
          <a:lstStyle/>
          <a:p>
            <a:pPr marL="0" indent="0" algn="r">
              <a:buNone/>
            </a:pPr>
            <a:r>
              <a:rPr lang="en-US" sz="1100" dirty="0">
                <a:solidFill>
                  <a:schemeClr val="accent5"/>
                </a:solidFill>
              </a:rPr>
              <a:t>8 k€/an</a:t>
            </a:r>
            <a:endParaRPr lang="en-US" sz="1100" dirty="0"/>
          </a:p>
        </p:txBody>
      </p:sp>
      <p:sp>
        <p:nvSpPr>
          <p:cNvPr id="47" name="Text 45"/>
          <p:cNvSpPr txBox="1"/>
          <p:nvPr/>
        </p:nvSpPr>
        <p:spPr>
          <a:xfrm>
            <a:off x="457200" y="3941064"/>
            <a:ext cx="1005840" cy="292608"/>
          </a:xfrm>
          <a:prstGeom prst="rect">
            <a:avLst/>
          </a:prstGeom>
          <a:noFill/>
          <a:ln/>
        </p:spPr>
        <p:txBody>
          <a:bodyPr wrap="square" lIns="0" tIns="0" rIns="0" bIns="0" rtlCol="0" anchor="ctr"/>
          <a:lstStyle/>
          <a:p>
            <a:pPr marL="0" indent="0">
              <a:buNone/>
            </a:pPr>
            <a:r>
              <a:rPr lang="en-US" sz="1200" b="1" dirty="0">
                <a:solidFill>
                  <a:schemeClr val="tx2"/>
                </a:solidFill>
              </a:rPr>
              <a:t>Avr. 2027</a:t>
            </a:r>
            <a:endParaRPr lang="en-US" sz="1200" dirty="0"/>
          </a:p>
        </p:txBody>
      </p:sp>
      <p:sp>
        <p:nvSpPr>
          <p:cNvPr id="48" name="Shape 46"/>
          <p:cNvSpPr/>
          <p:nvPr/>
        </p:nvSpPr>
        <p:spPr>
          <a:xfrm>
            <a:off x="1463040" y="3941064"/>
            <a:ext cx="4937760" cy="292608"/>
          </a:xfrm>
          <a:prstGeom prst="roundRect">
            <a:avLst>
              <a:gd name="adj" fmla="val 25000"/>
            </a:avLst>
          </a:prstGeom>
          <a:solidFill>
            <a:schemeClr val="bg2"/>
          </a:solidFill>
          <a:ln w="12700">
            <a:solidFill>
              <a:schemeClr val="bg2"/>
            </a:solidFill>
            <a:prstDash val="solid"/>
          </a:ln>
        </p:spPr>
        <p:txBody>
          <a:bodyPr/>
          <a:lstStyle/>
          <a:p>
            <a:endParaRPr lang="fr-FR"/>
          </a:p>
        </p:txBody>
      </p:sp>
      <p:sp>
        <p:nvSpPr>
          <p:cNvPr id="49" name="Text 47"/>
          <p:cNvSpPr txBox="1"/>
          <p:nvPr/>
        </p:nvSpPr>
        <p:spPr>
          <a:xfrm>
            <a:off x="1600200" y="3941064"/>
            <a:ext cx="2743200" cy="292608"/>
          </a:xfrm>
          <a:prstGeom prst="rect">
            <a:avLst/>
          </a:prstGeom>
          <a:noFill/>
          <a:ln/>
        </p:spPr>
        <p:txBody>
          <a:bodyPr wrap="square" lIns="0" tIns="0" rIns="0" bIns="0" rtlCol="0" anchor="ctr"/>
          <a:lstStyle/>
          <a:p>
            <a:pPr marL="0" indent="0">
              <a:buNone/>
            </a:pPr>
            <a:r>
              <a:rPr lang="en-US" sz="1200" dirty="0">
                <a:solidFill>
                  <a:schemeClr val="tx1"/>
                </a:solidFill>
              </a:rPr>
              <a:t>Bastion d’administration nominatif</a:t>
            </a:r>
            <a:endParaRPr lang="en-US" sz="1200" dirty="0"/>
          </a:p>
        </p:txBody>
      </p:sp>
      <p:sp>
        <p:nvSpPr>
          <p:cNvPr id="50" name="Text 48"/>
          <p:cNvSpPr txBox="1"/>
          <p:nvPr/>
        </p:nvSpPr>
        <p:spPr>
          <a:xfrm>
            <a:off x="4343400" y="3941064"/>
            <a:ext cx="914400" cy="292608"/>
          </a:xfrm>
          <a:prstGeom prst="rect">
            <a:avLst/>
          </a:prstGeom>
          <a:noFill/>
          <a:ln/>
        </p:spPr>
        <p:txBody>
          <a:bodyPr wrap="square" lIns="0" tIns="0" rIns="0" bIns="0" rtlCol="0" anchor="ctr"/>
          <a:lstStyle/>
          <a:p>
            <a:pPr marL="0" indent="0">
              <a:buNone/>
            </a:pPr>
            <a:r>
              <a:rPr lang="en-US" sz="1100" dirty="0">
                <a:solidFill>
                  <a:schemeClr val="tx2"/>
                </a:solidFill>
              </a:rPr>
              <a:t>S. Haas</a:t>
            </a:r>
            <a:endParaRPr lang="en-US" sz="1100" dirty="0"/>
          </a:p>
        </p:txBody>
      </p:sp>
      <p:sp>
        <p:nvSpPr>
          <p:cNvPr id="51" name="Text 49"/>
          <p:cNvSpPr txBox="1"/>
          <p:nvPr/>
        </p:nvSpPr>
        <p:spPr>
          <a:xfrm>
            <a:off x="5257800" y="3941064"/>
            <a:ext cx="1051560" cy="292608"/>
          </a:xfrm>
          <a:prstGeom prst="rect">
            <a:avLst/>
          </a:prstGeom>
          <a:noFill/>
          <a:ln/>
        </p:spPr>
        <p:txBody>
          <a:bodyPr wrap="square" lIns="0" tIns="0" rIns="0" bIns="0" rtlCol="0" anchor="ctr"/>
          <a:lstStyle/>
          <a:p>
            <a:pPr marL="0" indent="0" algn="r">
              <a:buNone/>
            </a:pPr>
            <a:r>
              <a:rPr lang="en-US" sz="1100" dirty="0">
                <a:solidFill>
                  <a:schemeClr val="accent5"/>
                </a:solidFill>
              </a:rPr>
              <a:t>15 k€ + 5/an</a:t>
            </a:r>
            <a:endParaRPr lang="en-US" sz="1100" dirty="0"/>
          </a:p>
        </p:txBody>
      </p:sp>
      <p:sp>
        <p:nvSpPr>
          <p:cNvPr id="52" name="Shape 50"/>
          <p:cNvSpPr/>
          <p:nvPr/>
        </p:nvSpPr>
        <p:spPr>
          <a:xfrm>
            <a:off x="6675120" y="1234440"/>
            <a:ext cx="2011680" cy="3017520"/>
          </a:xfrm>
          <a:prstGeom prst="roundRect">
            <a:avLst>
              <a:gd name="adj" fmla="val 3636"/>
            </a:avLst>
          </a:prstGeom>
          <a:solidFill>
            <a:schemeClr val="tx2"/>
          </a:solidFill>
          <a:ln w="12700">
            <a:solidFill>
              <a:schemeClr val="tx2"/>
            </a:solidFill>
            <a:prstDash val="solid"/>
          </a:ln>
        </p:spPr>
        <p:txBody>
          <a:bodyPr/>
          <a:lstStyle/>
          <a:p>
            <a:endParaRPr lang="fr-FR"/>
          </a:p>
        </p:txBody>
      </p:sp>
      <p:sp>
        <p:nvSpPr>
          <p:cNvPr id="53" name="Text 51"/>
          <p:cNvSpPr txBox="1"/>
          <p:nvPr/>
        </p:nvSpPr>
        <p:spPr>
          <a:xfrm>
            <a:off x="6675120" y="1371600"/>
            <a:ext cx="2011680" cy="594360"/>
          </a:xfrm>
          <a:prstGeom prst="rect">
            <a:avLst/>
          </a:prstGeom>
          <a:noFill/>
          <a:ln/>
        </p:spPr>
        <p:txBody>
          <a:bodyPr wrap="square" lIns="0" tIns="0" rIns="0" bIns="0" rtlCol="0" anchor="ctr"/>
          <a:lstStyle/>
          <a:p>
            <a:pPr marL="0" indent="0" algn="ctr">
              <a:buNone/>
            </a:pPr>
            <a:r>
              <a:rPr lang="en-US" sz="3200" b="1" dirty="0">
                <a:solidFill>
                  <a:schemeClr val="bg1"/>
                </a:solidFill>
                <a:latin typeface="Cambria" pitchFamily="34" charset="0"/>
                <a:ea typeface="Cambria" pitchFamily="34" charset="-122"/>
                <a:cs typeface="Cambria" pitchFamily="34" charset="-120"/>
              </a:rPr>
              <a:t>33 k€</a:t>
            </a:r>
            <a:endParaRPr lang="en-US" sz="3200" dirty="0"/>
          </a:p>
        </p:txBody>
      </p:sp>
      <p:sp>
        <p:nvSpPr>
          <p:cNvPr id="54" name="Text 52"/>
          <p:cNvSpPr txBox="1"/>
          <p:nvPr/>
        </p:nvSpPr>
        <p:spPr>
          <a:xfrm>
            <a:off x="6675120" y="1920240"/>
            <a:ext cx="2011680" cy="320040"/>
          </a:xfrm>
          <a:prstGeom prst="rect">
            <a:avLst/>
          </a:prstGeom>
          <a:noFill/>
          <a:ln/>
        </p:spPr>
        <p:txBody>
          <a:bodyPr wrap="square" lIns="0" tIns="0" rIns="0" bIns="0" rtlCol="0" anchor="ctr"/>
          <a:lstStyle/>
          <a:p>
            <a:pPr marL="0" indent="0" algn="ctr">
              <a:buNone/>
            </a:pPr>
            <a:r>
              <a:rPr lang="en-US" sz="1200" dirty="0">
                <a:solidFill>
                  <a:schemeClr val="bg2"/>
                </a:solidFill>
              </a:rPr>
              <a:t>d’investissement</a:t>
            </a:r>
            <a:endParaRPr lang="en-US" sz="1200" dirty="0"/>
          </a:p>
        </p:txBody>
      </p:sp>
      <p:sp>
        <p:nvSpPr>
          <p:cNvPr id="55" name="Text 53"/>
          <p:cNvSpPr txBox="1"/>
          <p:nvPr/>
        </p:nvSpPr>
        <p:spPr>
          <a:xfrm>
            <a:off x="6675120" y="2468880"/>
            <a:ext cx="2011680" cy="594360"/>
          </a:xfrm>
          <a:prstGeom prst="rect">
            <a:avLst/>
          </a:prstGeom>
          <a:noFill/>
          <a:ln/>
        </p:spPr>
        <p:txBody>
          <a:bodyPr wrap="square" lIns="0" tIns="0" rIns="0" bIns="0" rtlCol="0" anchor="ctr"/>
          <a:lstStyle/>
          <a:p>
            <a:pPr marL="0" indent="0" algn="ctr">
              <a:buNone/>
            </a:pPr>
            <a:r>
              <a:rPr lang="en-US" sz="2800" b="1" dirty="0">
                <a:solidFill>
                  <a:schemeClr val="bg1"/>
                </a:solidFill>
                <a:latin typeface="Cambria" pitchFamily="34" charset="0"/>
                <a:ea typeface="Cambria" pitchFamily="34" charset="-122"/>
                <a:cs typeface="Cambria" pitchFamily="34" charset="-120"/>
              </a:rPr>
              <a:t>51–56 k€</a:t>
            </a:r>
            <a:endParaRPr lang="en-US" sz="2800" dirty="0"/>
          </a:p>
        </p:txBody>
      </p:sp>
      <p:sp>
        <p:nvSpPr>
          <p:cNvPr id="56" name="Text 54"/>
          <p:cNvSpPr txBox="1"/>
          <p:nvPr/>
        </p:nvSpPr>
        <p:spPr>
          <a:xfrm>
            <a:off x="6675120" y="3017520"/>
            <a:ext cx="2011680" cy="320040"/>
          </a:xfrm>
          <a:prstGeom prst="rect">
            <a:avLst/>
          </a:prstGeom>
          <a:noFill/>
          <a:ln/>
        </p:spPr>
        <p:txBody>
          <a:bodyPr wrap="square" lIns="0" tIns="0" rIns="0" bIns="0" rtlCol="0" anchor="ctr"/>
          <a:lstStyle/>
          <a:p>
            <a:pPr marL="0" indent="0" algn="ctr">
              <a:buNone/>
            </a:pPr>
            <a:r>
              <a:rPr lang="en-US" sz="1200" dirty="0">
                <a:solidFill>
                  <a:schemeClr val="bg2"/>
                </a:solidFill>
              </a:rPr>
              <a:t>par an · ~0,25 % du CA</a:t>
            </a:r>
            <a:endParaRPr lang="en-US" sz="1200" dirty="0"/>
          </a:p>
        </p:txBody>
      </p:sp>
      <p:sp>
        <p:nvSpPr>
          <p:cNvPr id="57" name="Text 55"/>
          <p:cNvSpPr txBox="1"/>
          <p:nvPr/>
        </p:nvSpPr>
        <p:spPr>
          <a:xfrm>
            <a:off x="6766560" y="3520440"/>
            <a:ext cx="1828800" cy="548640"/>
          </a:xfrm>
          <a:prstGeom prst="rect">
            <a:avLst/>
          </a:prstGeom>
          <a:noFill/>
          <a:ln/>
        </p:spPr>
        <p:txBody>
          <a:bodyPr wrap="square" lIns="0" tIns="0" rIns="0" bIns="0" rtlCol="0" anchor="ctr"/>
          <a:lstStyle/>
          <a:p>
            <a:pPr marL="0" indent="0" algn="ctr">
              <a:buNone/>
            </a:pPr>
            <a:r>
              <a:rPr lang="en-US" sz="1000" dirty="0">
                <a:solidFill>
                  <a:schemeClr val="bg2"/>
                </a:solidFill>
              </a:rPr>
              <a:t>19 actions au total sur 12 mois · coûts estimés</a:t>
            </a:r>
            <a:endParaRPr lang="en-US" sz="1000" dirty="0"/>
          </a:p>
        </p:txBody>
      </p:sp>
      <p:sp>
        <p:nvSpPr>
          <p:cNvPr id="58" name="Text 56"/>
          <p:cNvSpPr txBox="1"/>
          <p:nvPr/>
        </p:nvSpPr>
        <p:spPr>
          <a:xfrm>
            <a:off x="457200" y="4407408"/>
            <a:ext cx="8229600" cy="274320"/>
          </a:xfrm>
          <a:prstGeom prst="rect">
            <a:avLst/>
          </a:prstGeom>
          <a:noFill/>
          <a:ln/>
        </p:spPr>
        <p:txBody>
          <a:bodyPr wrap="square" lIns="0" tIns="0" rIns="0" bIns="0" rtlCol="0" anchor="ctr"/>
          <a:lstStyle/>
          <a:p>
            <a:pPr marL="0" indent="0">
              <a:buNone/>
            </a:pPr>
            <a:r>
              <a:rPr lang="en-US" sz="1100" i="1" dirty="0">
                <a:solidFill>
                  <a:schemeClr val="accent5"/>
                </a:solidFill>
              </a:rPr>
              <a:t>Chaque action a un propriétaire nommé, une complexité, un délai et un indicateur (détail dans le dossier).</a:t>
            </a:r>
            <a:endParaRPr lang="en-US" sz="1100" dirty="0"/>
          </a:p>
        </p:txBody>
      </p:sp>
      <p:sp>
        <p:nvSpPr>
          <p:cNvPr id="59"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417320"/>
            <a:ext cx="8046720" cy="1188720"/>
          </a:xfrm>
          <a:prstGeom prst="rect">
            <a:avLst/>
          </a:prstGeom>
          <a:noFill/>
          <a:ln/>
        </p:spPr>
        <p:txBody>
          <a:bodyPr wrap="square" rtlCol="0" anchor="b"/>
          <a:lstStyle/>
          <a:p>
            <a:pPr marL="0" indent="0" algn="l">
              <a:buNone/>
            </a:pPr>
            <a:r>
              <a:rPr lang="en-US" sz="3600" b="1" dirty="0">
                <a:solidFill>
                  <a:schemeClr val="bg1"/>
                </a:solidFill>
              </a:rPr>
              <a:t>Ce que nous attendons de la direction</a:t>
            </a:r>
            <a:endParaRPr lang="en-US" sz="3600" dirty="0"/>
          </a:p>
        </p:txBody>
      </p:sp>
      <p:sp>
        <p:nvSpPr>
          <p:cNvPr id="3" name="Text 0"/>
          <p:cNvSpPr>
            <a:spLocks noGrp="1"/>
          </p:cNvSpPr>
          <p:nvPr>
            <p:ph type="body" idx="101" hasCustomPrompt="1"/>
          </p:nvPr>
        </p:nvSpPr>
        <p:spPr>
          <a:xfrm>
            <a:off x="548640" y="2743200"/>
            <a:ext cx="8046720" cy="1463040"/>
          </a:xfrm>
          <a:prstGeom prst="rect">
            <a:avLst/>
          </a:prstGeom>
          <a:noFill/>
          <a:ln/>
        </p:spPr>
        <p:txBody>
          <a:bodyPr wrap="square" rtlCol="0" anchor="t"/>
          <a:lstStyle/>
          <a:p>
            <a:pPr marL="342900" indent="-342900">
              <a:buSzPct val="100000"/>
              <a:buChar char="•"/>
            </a:pPr>
            <a:r>
              <a:rPr lang="en-US" sz="1600" dirty="0">
                <a:solidFill>
                  <a:schemeClr val="bg2"/>
                </a:solidFill>
              </a:rPr>
              <a:t>Valider le plan de traitement et son budget</a:t>
            </a:r>
            <a:endParaRPr lang="en-US" sz="1600" dirty="0"/>
          </a:p>
          <a:p>
            <a:pPr marL="342900" indent="-342900">
              <a:buSzPct val="100000"/>
              <a:buChar char="•"/>
            </a:pPr>
            <a:r>
              <a:rPr lang="en-US" sz="1600" dirty="0">
                <a:solidFill>
                  <a:schemeClr val="bg2"/>
                </a:solidFill>
              </a:rPr>
              <a:t>Mandater le DAF pour l’avenant d’infogérance avant fin janvier 2027</a:t>
            </a:r>
            <a:endParaRPr lang="en-US" sz="1600" dirty="0"/>
          </a:p>
          <a:p>
            <a:pPr marL="342900" indent="-342900">
              <a:buSzPct val="100000"/>
              <a:buChar char="•"/>
            </a:pPr>
            <a:r>
              <a:rPr lang="en-US" sz="1600" dirty="0">
                <a:solidFill>
                  <a:schemeClr val="bg2"/>
                </a:solidFill>
              </a:rPr>
              <a:t>Désigner un référent sécurité et un comité trimestriel</a:t>
            </a:r>
            <a:endParaRPr lang="en-US" sz="1600" dirty="0"/>
          </a:p>
          <a:p>
            <a:pPr marL="342900" indent="-342900">
              <a:buSzPct val="100000"/>
              <a:buChar char="•"/>
            </a:pPr>
            <a:r>
              <a:rPr lang="en-US" sz="1600" dirty="0">
                <a:solidFill>
                  <a:schemeClr val="bg2"/>
                </a:solidFill>
              </a:rPr>
              <a:t>Accepter les risques résiduels (R1, R3, R4, R5 modérés)</a:t>
            </a:r>
            <a:endParaRPr lang="en-US" sz="1600" dirty="0"/>
          </a:p>
          <a:p>
            <a:pPr marL="342900" indent="-342900">
              <a:buSzPct val="100000"/>
              <a:buChar char="•"/>
            </a:pPr>
            <a:r>
              <a:rPr lang="en-US" sz="1600" dirty="0">
                <a:solidFill>
                  <a:schemeClr val="bg2"/>
                </a:solidFill>
              </a:rPr>
              <a:t>Suivi : 8 indicateurs (MFA, tests de restauration, correctifs…) revus en comité trimestriel</a:t>
            </a:r>
            <a:endParaRPr lang="en-US" sz="1600" dirty="0"/>
          </a:p>
          <a:p>
            <a:pPr marL="0" indent="0">
              <a:buNone/>
            </a:pPr>
            <a:r>
              <a:rPr lang="en-US" sz="1300" i="1" dirty="0">
                <a:solidFill>
                  <a:schemeClr val="bg2"/>
                </a:solidFill>
              </a:rPr>
              <a:t>Limite : cas fictif, écarts supposés non </a:t>
            </a:r>
            <a:r>
              <a:rPr lang="en-US" sz="1300" i="1" dirty="0" err="1">
                <a:solidFill>
                  <a:schemeClr val="bg2"/>
                </a:solidFill>
              </a:rPr>
              <a:t>audités</a:t>
            </a:r>
            <a:r>
              <a:rPr lang="en-US" sz="1300" i="1" dirty="0">
                <a:solidFill>
                  <a:schemeClr val="bg2"/>
                </a:solidFill>
              </a:rPr>
              <a:t> - à vérifier en priorité</a:t>
            </a:r>
            <a:endParaRPr lang="en-US" sz="1600" dirty="0"/>
          </a:p>
        </p:txBody>
      </p:sp>
    </p:spTree>
  </p:cSld>
  <p:clrMapOvr>
    <a:masterClrMapping/>
  </p:clrMapOvr>
</p:sld>
</file>

<file path=ppt/theme/theme1.xml><?xml version="1.0" encoding="utf-8"?>
<a:theme xmlns:a="http://schemas.openxmlformats.org/drawingml/2006/main" name="Rhenalis Risque">
  <a:themeElements>
    <a:clrScheme name="Rhenalis Risque">
      <a:dk1>
        <a:srgbClr val="1B1F2A"/>
      </a:dk1>
      <a:lt1>
        <a:srgbClr val="FFFFFF"/>
      </a:lt1>
      <a:dk2>
        <a:srgbClr val="22304A"/>
      </a:dk2>
      <a:lt2>
        <a:srgbClr val="EEF1F5"/>
      </a:lt2>
      <a:accent1>
        <a:srgbClr val="C8102E"/>
      </a:accent1>
      <a:accent2>
        <a:srgbClr val="E39B2D"/>
      </a:accent2>
      <a:accent3>
        <a:srgbClr val="5E9C5A"/>
      </a:accent3>
      <a:accent4>
        <a:srgbClr val="22304A"/>
      </a:accent4>
      <a:accent5>
        <a:srgbClr val="7D8799"/>
      </a:accent5>
      <a:accent6>
        <a:srgbClr val="F2C14E"/>
      </a:accent6>
      <a:hlink>
        <a:srgbClr val="22304A"/>
      </a:hlink>
      <a:folHlink>
        <a:srgbClr val="7D8799"/>
      </a:folHlink>
    </a:clrScheme>
    <a:fontScheme name="Rhenalis Risq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1639</Words>
  <Application>Microsoft Office PowerPoint</Application>
  <PresentationFormat>Affichage à l'écran (16:9)</PresentationFormat>
  <Paragraphs>160</Paragraphs>
  <Slides>9</Slides>
  <Notes>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Arial</vt:lpstr>
      <vt:lpstr>Calibri</vt:lpstr>
      <vt:lpstr>Cambria</vt:lpstr>
      <vt:lpstr>Rhenalis Risque</vt:lpstr>
      <vt:lpstr>Protéger la plateforme ERP/CRM de Rhénalis</vt:lpstr>
      <vt:lpstr>Une activité qui repose entièrement sur des tiers</vt:lpstr>
      <vt:lpstr>Le pire : perdre définitivement les données</vt:lpstr>
      <vt:lpstr>Trois menaces retenues, cinq chemins d’attaque</vt:lpstr>
      <vt:lpstr>L’infogérant est le maillon le plus exposé</vt:lpstr>
      <vt:lpstr>Le scénario principal est très vraisemblable</vt:lpstr>
      <vt:lpstr>Deux risques élevés, ramenés à modérés par le plan</vt:lpstr>
      <vt:lpstr>Neuf actions prioritaires d’ici avril 2027</vt:lpstr>
      <vt:lpstr>Ce que nous attendons de la direction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 EBIOS RM — Rhénalis SAS</dc:title>
  <dc:subject>PptxGenJS Presentation</dc:subject>
  <dc:creator>Kleiton KITANI</dc:creator>
  <cp:lastModifiedBy>Kleiton KITANI</cp:lastModifiedBy>
  <cp:revision>1</cp:revision>
  <dcterms:created xsi:type="dcterms:W3CDTF">2026-10-23T10:05:10Z</dcterms:created>
  <dcterms:modified xsi:type="dcterms:W3CDTF">2026-10-23T10:34:19Z</dcterms:modified>
</cp:coreProperties>
</file>